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60" r:id="rId4"/>
    <p:sldId id="259" r:id="rId5"/>
    <p:sldId id="258" r:id="rId6"/>
  </p:sldIdLst>
  <p:sldSz cx="12239625" cy="6840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D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CD553-41EE-445F-8D2C-5FB2E680982A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68338" y="1143000"/>
            <a:ext cx="5521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4C26E-452E-4EF3-B7CE-561B37D689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4627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víz a tölcsérbe (1) jut, és átmegy a hengerbe, amelyben az úszó (2) felemelkedik. Ez egy fogasléchez van csatlakoztatva, amely az óramutatót működteti. A víz áramlási sebességét a beosztásos dugó (3) szabályozza.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4C26E-452E-4EF3-B7CE-561B37D68966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1046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9953" y="1119505"/>
            <a:ext cx="9179719" cy="2381521"/>
          </a:xfrm>
        </p:spPr>
        <p:txBody>
          <a:bodyPr anchor="b"/>
          <a:lstStyle>
            <a:lvl1pPr algn="ctr">
              <a:defRPr sz="5985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9953" y="3592866"/>
            <a:ext cx="9179719" cy="1651546"/>
          </a:xfrm>
        </p:spPr>
        <p:txBody>
          <a:bodyPr/>
          <a:lstStyle>
            <a:lvl1pPr marL="0" indent="0" algn="ctr">
              <a:buNone/>
              <a:defRPr sz="2394"/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3FDE-6CE6-422F-90C7-4C1A97FF5793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41E27-DB4C-4C8D-8CBB-202EB20011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6791638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3FDE-6CE6-422F-90C7-4C1A97FF5793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41E27-DB4C-4C8D-8CBB-202EB20011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914065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099" y="1705385"/>
            <a:ext cx="10556677" cy="2845473"/>
          </a:xfrm>
        </p:spPr>
        <p:txBody>
          <a:bodyPr anchor="b"/>
          <a:lstStyle>
            <a:lvl1pPr>
              <a:defRPr sz="5985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099" y="4577778"/>
            <a:ext cx="10556677" cy="1496367"/>
          </a:xfrm>
        </p:spPr>
        <p:txBody>
          <a:bodyPr/>
          <a:lstStyle>
            <a:lvl1pPr marL="0" indent="0">
              <a:buNone/>
              <a:defRPr sz="2394">
                <a:solidFill>
                  <a:schemeClr val="tx1">
                    <a:tint val="82000"/>
                  </a:schemeClr>
                </a:solidFill>
              </a:defRPr>
            </a:lvl1pPr>
            <a:lvl2pPr marL="456057" indent="0">
              <a:buNone/>
              <a:defRPr sz="1995">
                <a:solidFill>
                  <a:schemeClr val="tx1">
                    <a:tint val="82000"/>
                  </a:schemeClr>
                </a:solidFill>
              </a:defRPr>
            </a:lvl2pPr>
            <a:lvl3pPr marL="912114" indent="0">
              <a:buNone/>
              <a:defRPr sz="1795">
                <a:solidFill>
                  <a:schemeClr val="tx1">
                    <a:tint val="82000"/>
                  </a:schemeClr>
                </a:solidFill>
              </a:defRPr>
            </a:lvl3pPr>
            <a:lvl4pPr marL="1368171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4pPr>
            <a:lvl5pPr marL="1824228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5pPr>
            <a:lvl6pPr marL="2280285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6pPr>
            <a:lvl7pPr marL="2736342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7pPr>
            <a:lvl8pPr marL="3192399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8pPr>
            <a:lvl9pPr marL="3648456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3FDE-6CE6-422F-90C7-4C1A97FF5793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41E27-DB4C-4C8D-8CBB-202EB20011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8533810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474" y="1820976"/>
            <a:ext cx="5201841" cy="434025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310" y="1820976"/>
            <a:ext cx="5201841" cy="434025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3FDE-6CE6-422F-90C7-4C1A97FF5793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41E27-DB4C-4C8D-8CBB-202EB20011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26205720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364196"/>
            <a:ext cx="10556677" cy="132218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069" y="1676882"/>
            <a:ext cx="5177935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069" y="2498697"/>
            <a:ext cx="5177935" cy="367520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310" y="1676882"/>
            <a:ext cx="5203435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310" y="2498697"/>
            <a:ext cx="5203435" cy="367520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3FDE-6CE6-422F-90C7-4C1A97FF5793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41E27-DB4C-4C8D-8CBB-202EB20011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038153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3FDE-6CE6-422F-90C7-4C1A97FF5793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41E27-DB4C-4C8D-8CBB-202EB20011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95808283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3FDE-6CE6-422F-90C7-4C1A97FF5793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41E27-DB4C-4C8D-8CBB-202EB20011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5027798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456036"/>
            <a:ext cx="3947597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435" y="984911"/>
            <a:ext cx="6196310" cy="4861216"/>
          </a:xfrm>
        </p:spPr>
        <p:txBody>
          <a:bodyPr/>
          <a:lstStyle>
            <a:lvl1pPr>
              <a:defRPr sz="3192"/>
            </a:lvl1pPr>
            <a:lvl2pPr>
              <a:defRPr sz="2793"/>
            </a:lvl2pPr>
            <a:lvl3pPr>
              <a:defRPr sz="2394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2052161"/>
            <a:ext cx="3947597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3FDE-6CE6-422F-90C7-4C1A97FF5793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41E27-DB4C-4C8D-8CBB-202EB20011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6814286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456036"/>
            <a:ext cx="3947597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3435" y="984911"/>
            <a:ext cx="6196310" cy="486121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2052161"/>
            <a:ext cx="3947597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3FDE-6CE6-422F-90C7-4C1A97FF5793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41E27-DB4C-4C8D-8CBB-202EB20011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1908742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3FDE-6CE6-422F-90C7-4C1A97FF5793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41E27-DB4C-4C8D-8CBB-202EB20011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8863536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8982" y="364195"/>
            <a:ext cx="2639169" cy="579704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474" y="364195"/>
            <a:ext cx="7764512" cy="579704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3FDE-6CE6-422F-90C7-4C1A97FF5793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41E27-DB4C-4C8D-8CBB-202EB20011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0073011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474" y="364196"/>
            <a:ext cx="10556677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474" y="1820976"/>
            <a:ext cx="10556677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1474" y="6340166"/>
            <a:ext cx="2753916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393FDE-6CE6-422F-90C7-4C1A97FF5793}" type="datetimeFigureOut">
              <a:rPr lang="hu-HU" smtClean="0"/>
              <a:t>2026. 09. 07.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4376" y="6340166"/>
            <a:ext cx="4130873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4235" y="6340166"/>
            <a:ext cx="2753916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541E27-DB4C-4C8D-8CBB-202EB20011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8970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txStyles>
    <p:titleStyle>
      <a:lvl1pPr algn="l" defTabSz="912114" rtl="0" eaLnBrk="1" latinLnBrk="0" hangingPunct="1">
        <a:lnSpc>
          <a:spcPct val="90000"/>
        </a:lnSpc>
        <a:spcBef>
          <a:spcPct val="0"/>
        </a:spcBef>
        <a:buNone/>
        <a:defRPr sz="43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029" indent="-228029" algn="l" defTabSz="912114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3" kern="1200">
          <a:solidFill>
            <a:schemeClr val="tx1"/>
          </a:solidFill>
          <a:latin typeface="+mn-lt"/>
          <a:ea typeface="+mn-ea"/>
          <a:cs typeface="+mn-cs"/>
        </a:defRPr>
      </a:lvl1pPr>
      <a:lvl2pPr marL="684086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140143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6200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2257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08314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371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428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485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257F18-3CFC-22BC-9E04-F73B4F1C9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452461"/>
            <a:ext cx="12239624" cy="2381521"/>
          </a:xfrm>
        </p:spPr>
        <p:txBody>
          <a:bodyPr>
            <a:normAutofit/>
          </a:bodyPr>
          <a:lstStyle/>
          <a:p>
            <a:r>
              <a:rPr lang="hu-HU" sz="80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Podkova" pitchFamily="2" charset="-18"/>
              </a:rPr>
              <a:t>Régi időmérő eszközök</a:t>
            </a:r>
          </a:p>
        </p:txBody>
      </p:sp>
    </p:spTree>
    <p:extLst>
      <p:ext uri="{BB962C8B-B14F-4D97-AF65-F5344CB8AC3E}">
        <p14:creationId xmlns:p14="http://schemas.microsoft.com/office/powerpoint/2010/main" val="419210016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A0DCE6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8F68DC8-0CE3-5828-F95D-0CF2F007D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474" y="296104"/>
            <a:ext cx="10556677" cy="1322188"/>
          </a:xfrm>
        </p:spPr>
        <p:txBody>
          <a:bodyPr>
            <a:normAutofit/>
          </a:bodyPr>
          <a:lstStyle/>
          <a:p>
            <a:r>
              <a:rPr lang="hu-HU" sz="4900" b="1" dirty="0">
                <a:latin typeface="Podkova" pitchFamily="2" charset="-18"/>
              </a:rPr>
              <a:t>Napóra (árnyékóra)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230CFC8-46E7-39F4-B0F5-7C4E3E1BB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475" y="1811253"/>
            <a:ext cx="6201352" cy="4340259"/>
          </a:xfrm>
        </p:spPr>
        <p:txBody>
          <a:bodyPr>
            <a:noAutofit/>
          </a:bodyPr>
          <a:lstStyle/>
          <a:p>
            <a:r>
              <a:rPr lang="hu-HU" sz="3100" dirty="0">
                <a:latin typeface="Podkova" pitchFamily="2" charset="-18"/>
              </a:rPr>
              <a:t>Kr. e. 5. évezred</a:t>
            </a:r>
          </a:p>
          <a:p>
            <a:r>
              <a:rPr lang="hu-HU" sz="3100" dirty="0">
                <a:latin typeface="Podkova" pitchFamily="2" charset="-18"/>
              </a:rPr>
              <a:t>A legpontosabb eszköz még a középkorban is</a:t>
            </a:r>
          </a:p>
          <a:p>
            <a:r>
              <a:rPr lang="hu-HU" sz="3100" dirty="0">
                <a:latin typeface="Podkova" pitchFamily="2" charset="-18"/>
              </a:rPr>
              <a:t>A helyi időt mutatja</a:t>
            </a:r>
          </a:p>
          <a:p>
            <a:r>
              <a:rPr lang="hu-HU" sz="3100" dirty="0">
                <a:latin typeface="Podkova" pitchFamily="2" charset="-18"/>
              </a:rPr>
              <a:t>Részei</a:t>
            </a:r>
          </a:p>
          <a:p>
            <a:pPr lvl="1"/>
            <a:r>
              <a:rPr lang="hu-HU" sz="2500" dirty="0">
                <a:latin typeface="Podkova" pitchFamily="2" charset="-18"/>
              </a:rPr>
              <a:t>árnyékvető (gnómon)</a:t>
            </a:r>
          </a:p>
          <a:p>
            <a:pPr lvl="1"/>
            <a:r>
              <a:rPr lang="hu-HU" sz="2500" dirty="0">
                <a:latin typeface="Podkova" pitchFamily="2" charset="-18"/>
              </a:rPr>
              <a:t>számlap</a:t>
            </a:r>
          </a:p>
          <a:p>
            <a:r>
              <a:rPr lang="hu-HU" sz="3100" dirty="0">
                <a:latin typeface="Podkova" pitchFamily="2" charset="-18"/>
              </a:rPr>
              <a:t>Típusai</a:t>
            </a:r>
          </a:p>
          <a:p>
            <a:pPr lvl="1"/>
            <a:r>
              <a:rPr lang="hu-HU" sz="2701" dirty="0">
                <a:latin typeface="Podkova" pitchFamily="2" charset="-18"/>
              </a:rPr>
              <a:t>rögzített</a:t>
            </a:r>
          </a:p>
          <a:p>
            <a:pPr lvl="1"/>
            <a:r>
              <a:rPr lang="hu-HU" sz="2701" dirty="0">
                <a:latin typeface="Podkova" pitchFamily="2" charset="-18"/>
              </a:rPr>
              <a:t>hordozható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04BC42C-66C6-60B4-7CC4-5AFBEC5F6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2" r="9783"/>
          <a:stretch>
            <a:fillRect/>
          </a:stretch>
        </p:blipFill>
        <p:spPr>
          <a:xfrm>
            <a:off x="7156891" y="2516342"/>
            <a:ext cx="424126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65214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A0DCE6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5F1519-4F91-968A-761E-A57E4D76F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50B58F-22B3-4FD7-0972-4081E701E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900" b="1" dirty="0">
                <a:latin typeface="Podkova" pitchFamily="2" charset="-18"/>
              </a:rPr>
              <a:t>Vízóra (</a:t>
            </a:r>
            <a:r>
              <a:rPr lang="hu-HU" sz="4900" b="1" dirty="0" err="1">
                <a:latin typeface="Podkova" pitchFamily="2" charset="-18"/>
              </a:rPr>
              <a:t>klepszüdra</a:t>
            </a:r>
            <a:r>
              <a:rPr lang="hu-HU" sz="4900" b="1" dirty="0">
                <a:latin typeface="Podkova" pitchFamily="2" charset="-18"/>
              </a:rPr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3E49B0E-3353-D99D-0444-9E9FDA009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475" y="1820976"/>
            <a:ext cx="6084620" cy="4340259"/>
          </a:xfrm>
        </p:spPr>
        <p:txBody>
          <a:bodyPr>
            <a:normAutofit/>
          </a:bodyPr>
          <a:lstStyle/>
          <a:p>
            <a:r>
              <a:rPr lang="hu-HU" sz="3100" dirty="0">
                <a:latin typeface="Podkova" pitchFamily="2" charset="-18"/>
              </a:rPr>
              <a:t>Mezopotámia, Egyiptom, Távol-Kelet</a:t>
            </a:r>
          </a:p>
          <a:p>
            <a:r>
              <a:rPr lang="hu-HU" sz="3100" dirty="0">
                <a:latin typeface="Podkova" pitchFamily="2" charset="-18"/>
              </a:rPr>
              <a:t>A víz átcsöpög a másik edénybe</a:t>
            </a:r>
          </a:p>
          <a:p>
            <a:r>
              <a:rPr lang="hu-HU" sz="3100" dirty="0">
                <a:latin typeface="Podkova" pitchFamily="2" charset="-18"/>
              </a:rPr>
              <a:t>Tölcsér alak: egyenletesen</a:t>
            </a:r>
          </a:p>
          <a:p>
            <a:r>
              <a:rPr lang="hu-HU" sz="3100" dirty="0">
                <a:latin typeface="Podkova" pitchFamily="2" charset="-18"/>
              </a:rPr>
              <a:t>Ókori Görögország: beszédek hossza</a:t>
            </a:r>
          </a:p>
          <a:p>
            <a:r>
              <a:rPr lang="hu-HU" sz="3100" dirty="0">
                <a:latin typeface="Podkova" pitchFamily="2" charset="-18"/>
              </a:rPr>
              <a:t>Galilei: kísérleteihez időméréshez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150DE5C-ACCB-A9A6-F084-1AB296EB5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8151" y="2037527"/>
            <a:ext cx="2880000" cy="443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70123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A0DCE6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90274-3A56-2030-C04C-69C324DCB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2361B8-A200-7132-5AF8-9D1859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900" b="1" dirty="0">
                <a:latin typeface="Podkova" pitchFamily="2" charset="-18"/>
              </a:rPr>
              <a:t>Gyertyaóra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4E6E597-EC8E-2267-0DF1-D299C461C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475" y="1820976"/>
            <a:ext cx="5491231" cy="4340259"/>
          </a:xfrm>
        </p:spPr>
        <p:txBody>
          <a:bodyPr>
            <a:normAutofit/>
          </a:bodyPr>
          <a:lstStyle/>
          <a:p>
            <a:r>
              <a:rPr lang="hu-HU" sz="3100" dirty="0">
                <a:latin typeface="Podkova" pitchFamily="2" charset="-18"/>
              </a:rPr>
              <a:t>Kb. 900 éve terjedt el</a:t>
            </a:r>
          </a:p>
          <a:p>
            <a:r>
              <a:rPr lang="hu-HU" sz="3100" dirty="0">
                <a:latin typeface="Podkova" pitchFamily="2" charset="-18"/>
              </a:rPr>
              <a:t>A gyertya egyenletesen fogy</a:t>
            </a:r>
          </a:p>
          <a:p>
            <a:r>
              <a:rPr lang="hu-HU" sz="3100" dirty="0">
                <a:latin typeface="Podkova" pitchFamily="2" charset="-18"/>
              </a:rPr>
              <a:t>Beosztás a gyertyán vagy a gyertya mögött</a:t>
            </a:r>
          </a:p>
          <a:p>
            <a:r>
              <a:rPr lang="hu-HU" sz="3100" dirty="0">
                <a:latin typeface="Podkova" pitchFamily="2" charset="-18"/>
              </a:rPr>
              <a:t>Időzítés:</a:t>
            </a:r>
          </a:p>
          <a:p>
            <a:pPr lvl="1"/>
            <a:r>
              <a:rPr lang="hu-HU" sz="2500" dirty="0">
                <a:latin typeface="Podkova" pitchFamily="2" charset="-18"/>
              </a:rPr>
              <a:t>szeg a megfelelő osztásnál</a:t>
            </a:r>
          </a:p>
          <a:p>
            <a:pPr lvl="1"/>
            <a:r>
              <a:rPr lang="hu-HU" sz="2500" dirty="0">
                <a:latin typeface="Podkova" pitchFamily="2" charset="-18"/>
              </a:rPr>
              <a:t>amikor odáig leég, a szeg fémtálkába esik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9BA8F32-2BEC-DB0E-2C75-770A3B6A8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746" y="1840695"/>
            <a:ext cx="3240405" cy="43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7393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A0DCE6"/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726626-6C1A-1839-76C5-2DCB0C3D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5121CAD-6AD7-51F9-43DF-9ED64ADC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900" b="1" dirty="0">
                <a:latin typeface="Podkova" pitchFamily="2" charset="-18"/>
              </a:rPr>
              <a:t>Homokóra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1A691CB-1E21-30EE-FCDA-949A3E048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474" y="1812649"/>
            <a:ext cx="5763607" cy="4340259"/>
          </a:xfrm>
        </p:spPr>
        <p:txBody>
          <a:bodyPr>
            <a:normAutofit/>
          </a:bodyPr>
          <a:lstStyle/>
          <a:p>
            <a:r>
              <a:rPr lang="hu-HU" sz="3100" dirty="0">
                <a:latin typeface="Podkova" pitchFamily="2" charset="-18"/>
              </a:rPr>
              <a:t>Első feljegyzés: XIV. század</a:t>
            </a:r>
          </a:p>
          <a:p>
            <a:r>
              <a:rPr lang="hu-HU" sz="3100" dirty="0">
                <a:latin typeface="Podkova" pitchFamily="2" charset="-18"/>
              </a:rPr>
              <a:t>Két vékony csővel összekötött edény</a:t>
            </a:r>
          </a:p>
          <a:p>
            <a:r>
              <a:rPr lang="hu-HU" sz="3100" dirty="0">
                <a:latin typeface="Podkova" pitchFamily="2" charset="-18"/>
              </a:rPr>
              <a:t>A felső tartályból homok pereg</a:t>
            </a:r>
          </a:p>
          <a:p>
            <a:r>
              <a:rPr lang="hu-HU" sz="3100" dirty="0">
                <a:latin typeface="Podkova" pitchFamily="2" charset="-18"/>
              </a:rPr>
              <a:t>Időtartamot mér</a:t>
            </a:r>
          </a:p>
          <a:p>
            <a:r>
              <a:rPr lang="hu-HU" sz="3100" dirty="0">
                <a:latin typeface="Podkova" pitchFamily="2" charset="-18"/>
              </a:rPr>
              <a:t>Újraindítás: megfordítják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02D591B-8C6F-AD46-DB2B-ED86B05E5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813" y="1834908"/>
            <a:ext cx="1960880" cy="431800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94F7B356-6950-D170-B65F-F33637DA5E5E}"/>
              </a:ext>
            </a:extLst>
          </p:cNvPr>
          <p:cNvSpPr txBox="1"/>
          <p:nvPr/>
        </p:nvSpPr>
        <p:spPr>
          <a:xfrm>
            <a:off x="933855" y="5858561"/>
            <a:ext cx="55235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Podkova" pitchFamily="2" charset="-18"/>
              </a:rPr>
              <a:t>A világ legnagyobb homokóráját, a Világórát hazánk EU-s csatlakozása alkalmából Budapesten adták át.</a:t>
            </a:r>
          </a:p>
          <a:p>
            <a:endParaRPr lang="hu-HU" dirty="0"/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5F5D8359-D122-0EF0-67EC-FD7629595FF3}"/>
              </a:ext>
            </a:extLst>
          </p:cNvPr>
          <p:cNvCxnSpPr>
            <a:cxnSpLocks/>
          </p:cNvCxnSpPr>
          <p:nvPr/>
        </p:nvCxnSpPr>
        <p:spPr>
          <a:xfrm flipV="1">
            <a:off x="8173039" y="2849880"/>
            <a:ext cx="1641517" cy="570389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Egyenes összekötő 18">
            <a:extLst>
              <a:ext uri="{FF2B5EF4-FFF2-40B4-BE49-F238E27FC236}">
                <a16:creationId xmlns:a16="http://schemas.microsoft.com/office/drawing/2014/main" id="{30B7D5A0-5862-AFC9-E706-0170F562A524}"/>
              </a:ext>
            </a:extLst>
          </p:cNvPr>
          <p:cNvCxnSpPr>
            <a:cxnSpLocks/>
          </p:cNvCxnSpPr>
          <p:nvPr/>
        </p:nvCxnSpPr>
        <p:spPr>
          <a:xfrm>
            <a:off x="8005253" y="3982778"/>
            <a:ext cx="1809303" cy="0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B57C2820-48A2-8B1F-9260-CDE1DCD786A6}"/>
              </a:ext>
            </a:extLst>
          </p:cNvPr>
          <p:cNvCxnSpPr>
            <a:cxnSpLocks/>
          </p:cNvCxnSpPr>
          <p:nvPr/>
        </p:nvCxnSpPr>
        <p:spPr>
          <a:xfrm>
            <a:off x="8374556" y="4574260"/>
            <a:ext cx="1440000" cy="180000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Egyenes összekötő 20">
            <a:extLst>
              <a:ext uri="{FF2B5EF4-FFF2-40B4-BE49-F238E27FC236}">
                <a16:creationId xmlns:a16="http://schemas.microsoft.com/office/drawing/2014/main" id="{50A9E9BE-3FAE-0251-E607-673730B343D1}"/>
              </a:ext>
            </a:extLst>
          </p:cNvPr>
          <p:cNvCxnSpPr>
            <a:cxnSpLocks/>
          </p:cNvCxnSpPr>
          <p:nvPr/>
        </p:nvCxnSpPr>
        <p:spPr>
          <a:xfrm>
            <a:off x="8805248" y="5768561"/>
            <a:ext cx="1009308" cy="37321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Szövegdoboz 49">
            <a:extLst>
              <a:ext uri="{FF2B5EF4-FFF2-40B4-BE49-F238E27FC236}">
                <a16:creationId xmlns:a16="http://schemas.microsoft.com/office/drawing/2014/main" id="{77EA9CD4-7B9B-0EE4-3195-B8C0762EAD0F}"/>
              </a:ext>
            </a:extLst>
          </p:cNvPr>
          <p:cNvSpPr txBox="1"/>
          <p:nvPr/>
        </p:nvSpPr>
        <p:spPr>
          <a:xfrm>
            <a:off x="9756635" y="2636853"/>
            <a:ext cx="164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Podkova" pitchFamily="2" charset="-18"/>
              </a:rPr>
              <a:t>száraz homok</a:t>
            </a:r>
          </a:p>
        </p:txBody>
      </p:sp>
      <p:sp>
        <p:nvSpPr>
          <p:cNvPr id="51" name="Szövegdoboz 50">
            <a:extLst>
              <a:ext uri="{FF2B5EF4-FFF2-40B4-BE49-F238E27FC236}">
                <a16:creationId xmlns:a16="http://schemas.microsoft.com/office/drawing/2014/main" id="{C877DE19-AB9F-CFAC-07F5-0B74BB0AC8CC}"/>
              </a:ext>
            </a:extLst>
          </p:cNvPr>
          <p:cNvSpPr txBox="1"/>
          <p:nvPr/>
        </p:nvSpPr>
        <p:spPr>
          <a:xfrm>
            <a:off x="9756635" y="3784674"/>
            <a:ext cx="1102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Podkova" pitchFamily="2" charset="-18"/>
              </a:rPr>
              <a:t>nyílás</a:t>
            </a:r>
          </a:p>
        </p:txBody>
      </p:sp>
      <p:sp>
        <p:nvSpPr>
          <p:cNvPr id="52" name="Szövegdoboz 51">
            <a:extLst>
              <a:ext uri="{FF2B5EF4-FFF2-40B4-BE49-F238E27FC236}">
                <a16:creationId xmlns:a16="http://schemas.microsoft.com/office/drawing/2014/main" id="{18F00F54-57EC-2556-7DF7-706D31F0AE7B}"/>
              </a:ext>
            </a:extLst>
          </p:cNvPr>
          <p:cNvSpPr txBox="1"/>
          <p:nvPr/>
        </p:nvSpPr>
        <p:spPr>
          <a:xfrm>
            <a:off x="9756635" y="4561121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Podkova" pitchFamily="2" charset="-18"/>
              </a:rPr>
              <a:t>üvegtartály</a:t>
            </a:r>
          </a:p>
        </p:txBody>
      </p:sp>
      <p:sp>
        <p:nvSpPr>
          <p:cNvPr id="53" name="Szövegdoboz 52">
            <a:extLst>
              <a:ext uri="{FF2B5EF4-FFF2-40B4-BE49-F238E27FC236}">
                <a16:creationId xmlns:a16="http://schemas.microsoft.com/office/drawing/2014/main" id="{C50330A5-8807-E704-6FED-F92CF2038190}"/>
              </a:ext>
            </a:extLst>
          </p:cNvPr>
          <p:cNvSpPr txBox="1"/>
          <p:nvPr/>
        </p:nvSpPr>
        <p:spPr>
          <a:xfrm>
            <a:off x="9756635" y="5953049"/>
            <a:ext cx="164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Podkova" pitchFamily="2" charset="-18"/>
              </a:rPr>
              <a:t>tartószerkezet</a:t>
            </a:r>
          </a:p>
        </p:txBody>
      </p:sp>
    </p:spTree>
    <p:extLst>
      <p:ext uri="{BB962C8B-B14F-4D97-AF65-F5344CB8AC3E}">
        <p14:creationId xmlns:p14="http://schemas.microsoft.com/office/powerpoint/2010/main" val="400229015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é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182</Words>
  <Application>Microsoft Office PowerPoint</Application>
  <PresentationFormat>Egyéni</PresentationFormat>
  <Paragraphs>37</Paragraphs>
  <Slides>5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Podkova</vt:lpstr>
      <vt:lpstr>Office-téma</vt:lpstr>
      <vt:lpstr>Régi időmérő eszközök</vt:lpstr>
      <vt:lpstr>Napóra (árnyékóra)</vt:lpstr>
      <vt:lpstr>Vízóra (klepszüdra)</vt:lpstr>
      <vt:lpstr>Gyertyaóra</vt:lpstr>
      <vt:lpstr>Homokóra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4</cp:revision>
  <dcterms:created xsi:type="dcterms:W3CDTF">2026-09-07T20:11:44Z</dcterms:created>
  <dcterms:modified xsi:type="dcterms:W3CDTF">2026-09-07T20:48:48Z</dcterms:modified>
</cp:coreProperties>
</file>