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1520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96D2"/>
    <a:srgbClr val="FAB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0530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2060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4130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919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8428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3103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508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8479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8326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8078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0543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E2CEF-71AB-4E86-871F-E4439E9F43FB}" type="datetimeFigureOut">
              <a:rPr lang="hu-HU" smtClean="0"/>
              <a:t>2026. 10. 11.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210775-FB13-4F2C-BAA4-C27C587BCB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645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C4DA63-5227-897C-0C17-92C13DAEC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2112056"/>
            <a:ext cx="8640366" cy="2256061"/>
          </a:xfrm>
        </p:spPr>
        <p:txBody>
          <a:bodyPr>
            <a:normAutofit/>
          </a:bodyPr>
          <a:lstStyle/>
          <a:p>
            <a:r>
              <a:rPr lang="hu-HU" sz="7200" dirty="0">
                <a:latin typeface="Arial" panose="020B0604020202020204" pitchFamily="34" charset="0"/>
                <a:cs typeface="Arial" panose="020B0604020202020204" pitchFamily="34" charset="0"/>
              </a:rPr>
              <a:t>Magyar kémiai Nobel-díjasok</a:t>
            </a:r>
          </a:p>
        </p:txBody>
      </p:sp>
    </p:spTree>
    <p:extLst>
      <p:ext uri="{BB962C8B-B14F-4D97-AF65-F5344CB8AC3E}">
        <p14:creationId xmlns:p14="http://schemas.microsoft.com/office/powerpoint/2010/main" val="1645308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E5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AED06-F6ED-C48A-0872-6DA64511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0546D783-ADFB-31A6-B339-F9F916BA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5000" dirty="0">
                <a:latin typeface="Arial" panose="020B0604020202020204" pitchFamily="34" charset="0"/>
                <a:cs typeface="Arial" panose="020B0604020202020204" pitchFamily="34" charset="0"/>
              </a:rPr>
              <a:t>Mivel foglalkoztak?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8A5C447-A624-E715-DABA-370E08AC4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Zsigmondy Richárd</a:t>
            </a:r>
          </a:p>
          <a:p>
            <a:pPr lvl="1"/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kolloid oldatok</a:t>
            </a:r>
          </a:p>
          <a:p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Hevesy György</a:t>
            </a:r>
          </a:p>
          <a:p>
            <a:pPr lvl="1"/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radioaktív izotópok</a:t>
            </a:r>
          </a:p>
          <a:p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Polányi János</a:t>
            </a:r>
          </a:p>
          <a:p>
            <a:pPr lvl="1"/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kémiai folyamatok dinamikája</a:t>
            </a:r>
          </a:p>
          <a:p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Oláh György</a:t>
            </a:r>
          </a:p>
          <a:p>
            <a:pPr lvl="1"/>
            <a:r>
              <a:rPr lang="hu-HU" sz="2600" dirty="0" err="1">
                <a:latin typeface="Arial" panose="020B0604020202020204" pitchFamily="34" charset="0"/>
                <a:cs typeface="Arial" panose="020B0604020202020204" pitchFamily="34" charset="0"/>
              </a:rPr>
              <a:t>karbokationok</a:t>
            </a:r>
            <a:r>
              <a:rPr lang="hu-HU" sz="2600" dirty="0">
                <a:latin typeface="Arial" panose="020B0604020202020204" pitchFamily="34" charset="0"/>
                <a:cs typeface="Arial" panose="020B0604020202020204" pitchFamily="34" charset="0"/>
              </a:rPr>
              <a:t> kémiája</a:t>
            </a:r>
          </a:p>
        </p:txBody>
      </p:sp>
    </p:spTree>
    <p:extLst>
      <p:ext uri="{BB962C8B-B14F-4D97-AF65-F5344CB8AC3E}">
        <p14:creationId xmlns:p14="http://schemas.microsoft.com/office/powerpoint/2010/main" val="2843787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E5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CD7C8-BB2D-01ED-7AC5-AA9298D3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06E35B5B-E518-117E-FA7D-B95C4855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5000" dirty="0">
                <a:latin typeface="Arial" panose="020B0604020202020204" pitchFamily="34" charset="0"/>
                <a:cs typeface="Arial" panose="020B0604020202020204" pitchFamily="34" charset="0"/>
              </a:rPr>
              <a:t>Mikor kapták a Nobel-díjat?</a:t>
            </a: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9B93D643-7F89-94B7-338B-E68F8C34D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259690"/>
              </p:ext>
            </p:extLst>
          </p:nvPr>
        </p:nvGraphicFramePr>
        <p:xfrm>
          <a:off x="2172075" y="1597544"/>
          <a:ext cx="72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9153">
                  <a:extLst>
                    <a:ext uri="{9D8B030D-6E8A-4147-A177-3AD203B41FA5}">
                      <a16:colId xmlns:a16="http://schemas.microsoft.com/office/drawing/2014/main" val="919380763"/>
                    </a:ext>
                  </a:extLst>
                </a:gridCol>
                <a:gridCol w="1950847">
                  <a:extLst>
                    <a:ext uri="{9D8B030D-6E8A-4147-A177-3AD203B41FA5}">
                      <a16:colId xmlns:a16="http://schemas.microsoft.com/office/drawing/2014/main" val="2352144611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hu-HU" sz="4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Zsigmondy Richárd</a:t>
                      </a:r>
                      <a:endParaRPr lang="hu-HU" sz="4000" b="0" dirty="0">
                        <a:solidFill>
                          <a:schemeClr val="tx1"/>
                        </a:solidFill>
                      </a:endParaRPr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u-HU" sz="4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1925</a:t>
                      </a:r>
                    </a:p>
                  </a:txBody>
                  <a:tcPr marR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718019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hu-HU" sz="4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Hevesy György</a:t>
                      </a:r>
                      <a:endParaRPr lang="hu-HU" sz="4000" dirty="0"/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640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hu-HU" sz="4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1943</a:t>
                      </a:r>
                    </a:p>
                  </a:txBody>
                  <a:tcPr marR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88425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hu-HU" sz="4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Polányi János</a:t>
                      </a:r>
                      <a:endParaRPr lang="hu-HU" sz="4000" dirty="0"/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hu-HU" sz="4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1986</a:t>
                      </a:r>
                      <a:endParaRPr lang="hu-HU" sz="4000" dirty="0"/>
                    </a:p>
                  </a:txBody>
                  <a:tcPr marR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34549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lvl="0" indent="0" algn="l">
                        <a:buFont typeface="Arial" panose="020B0604020202020204" pitchFamily="34" charset="0"/>
                        <a:buNone/>
                      </a:pPr>
                      <a:r>
                        <a:rPr lang="hu-HU" sz="4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Oláh György</a:t>
                      </a:r>
                      <a:endParaRPr lang="hu-HU" sz="4000" dirty="0"/>
                    </a:p>
                  </a:txBody>
                  <a:tcPr marL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Font typeface="Arial" panose="020B0604020202020204" pitchFamily="34" charset="0"/>
                        <a:buNone/>
                      </a:pPr>
                      <a:r>
                        <a:rPr lang="hu-HU" sz="4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1994</a:t>
                      </a:r>
                      <a:endParaRPr lang="hu-HU" sz="4000" dirty="0"/>
                    </a:p>
                  </a:txBody>
                  <a:tcPr marR="18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262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314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BE5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3A281-B806-B532-B065-14AE65B61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A1370303-080A-94BC-0077-518BB6853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5000" dirty="0">
                <a:latin typeface="Arial" panose="020B0604020202020204" pitchFamily="34" charset="0"/>
                <a:cs typeface="Arial" panose="020B0604020202020204" pitchFamily="34" charset="0"/>
              </a:rPr>
              <a:t>Kémiai Nobel-díjasok</a:t>
            </a:r>
          </a:p>
        </p:txBody>
      </p:sp>
      <p:grpSp>
        <p:nvGrpSpPr>
          <p:cNvPr id="22" name="Csoportba foglalás 21">
            <a:extLst>
              <a:ext uri="{FF2B5EF4-FFF2-40B4-BE49-F238E27FC236}">
                <a16:creationId xmlns:a16="http://schemas.microsoft.com/office/drawing/2014/main" id="{37194A4D-AC2D-302F-6DE5-4AB7321B3E77}"/>
              </a:ext>
            </a:extLst>
          </p:cNvPr>
          <p:cNvGrpSpPr/>
          <p:nvPr/>
        </p:nvGrpSpPr>
        <p:grpSpPr>
          <a:xfrm>
            <a:off x="381741" y="4058681"/>
            <a:ext cx="1980000" cy="1080000"/>
            <a:chOff x="1032571" y="3965625"/>
            <a:chExt cx="1980000" cy="1080000"/>
          </a:xfrm>
        </p:grpSpPr>
        <p:sp>
          <p:nvSpPr>
            <p:cNvPr id="2" name="Téglalap: lekerekített 1">
              <a:extLst>
                <a:ext uri="{FF2B5EF4-FFF2-40B4-BE49-F238E27FC236}">
                  <a16:creationId xmlns:a16="http://schemas.microsoft.com/office/drawing/2014/main" id="{8BF465C7-CC47-4DEC-5F1A-5D6C2E4D2D9A}"/>
                </a:ext>
              </a:extLst>
            </p:cNvPr>
            <p:cNvSpPr/>
            <p:nvPr/>
          </p:nvSpPr>
          <p:spPr>
            <a:xfrm rot="16200000">
              <a:off x="1482571" y="3515625"/>
              <a:ext cx="1080000" cy="1980000"/>
            </a:xfrm>
            <a:prstGeom prst="roundRect">
              <a:avLst/>
            </a:prstGeom>
            <a:solidFill>
              <a:srgbClr val="5A96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B9264514-DC3C-7CD4-77DD-0D0E938A5F3A}"/>
                </a:ext>
              </a:extLst>
            </p:cNvPr>
            <p:cNvSpPr txBox="1"/>
            <p:nvPr/>
          </p:nvSpPr>
          <p:spPr>
            <a:xfrm>
              <a:off x="1087426" y="4059349"/>
              <a:ext cx="187028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600" dirty="0">
                  <a:latin typeface="Arial" panose="020B0604020202020204" pitchFamily="34" charset="0"/>
                  <a:cs typeface="Arial" panose="020B0604020202020204" pitchFamily="34" charset="0"/>
                </a:rPr>
                <a:t>Zsigmondy Richárd</a:t>
              </a:r>
            </a:p>
          </p:txBody>
        </p:sp>
      </p:grpSp>
      <p:grpSp>
        <p:nvGrpSpPr>
          <p:cNvPr id="23" name="Csoportba foglalás 22">
            <a:extLst>
              <a:ext uri="{FF2B5EF4-FFF2-40B4-BE49-F238E27FC236}">
                <a16:creationId xmlns:a16="http://schemas.microsoft.com/office/drawing/2014/main" id="{3D6CAED9-7386-3051-D818-926240ABFECE}"/>
              </a:ext>
            </a:extLst>
          </p:cNvPr>
          <p:cNvGrpSpPr/>
          <p:nvPr/>
        </p:nvGrpSpPr>
        <p:grpSpPr>
          <a:xfrm>
            <a:off x="3304786" y="4058682"/>
            <a:ext cx="1980000" cy="1080000"/>
            <a:chOff x="4168684" y="2885625"/>
            <a:chExt cx="1980000" cy="1080000"/>
          </a:xfrm>
        </p:grpSpPr>
        <p:sp>
          <p:nvSpPr>
            <p:cNvPr id="7" name="Téglalap: lekerekített 6">
              <a:extLst>
                <a:ext uri="{FF2B5EF4-FFF2-40B4-BE49-F238E27FC236}">
                  <a16:creationId xmlns:a16="http://schemas.microsoft.com/office/drawing/2014/main" id="{EB94F12D-59FB-E723-3321-B69B492B838A}"/>
                </a:ext>
              </a:extLst>
            </p:cNvPr>
            <p:cNvSpPr/>
            <p:nvPr/>
          </p:nvSpPr>
          <p:spPr>
            <a:xfrm rot="16200000">
              <a:off x="4618684" y="2435625"/>
              <a:ext cx="1080000" cy="1980000"/>
            </a:xfrm>
            <a:prstGeom prst="roundRect">
              <a:avLst/>
            </a:prstGeom>
            <a:solidFill>
              <a:srgbClr val="5A96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05EFF4AC-4EB0-6755-384A-13C73D00071C}"/>
                </a:ext>
              </a:extLst>
            </p:cNvPr>
            <p:cNvSpPr txBox="1"/>
            <p:nvPr/>
          </p:nvSpPr>
          <p:spPr>
            <a:xfrm>
              <a:off x="4223540" y="2979348"/>
              <a:ext cx="187028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600" dirty="0">
                  <a:latin typeface="Arial" panose="020B0604020202020204" pitchFamily="34" charset="0"/>
                  <a:cs typeface="Arial" panose="020B0604020202020204" pitchFamily="34" charset="0"/>
                </a:rPr>
                <a:t>Hevesy György</a:t>
              </a:r>
            </a:p>
          </p:txBody>
        </p:sp>
      </p:grpSp>
      <p:grpSp>
        <p:nvGrpSpPr>
          <p:cNvPr id="24" name="Csoportba foglalás 23">
            <a:extLst>
              <a:ext uri="{FF2B5EF4-FFF2-40B4-BE49-F238E27FC236}">
                <a16:creationId xmlns:a16="http://schemas.microsoft.com/office/drawing/2014/main" id="{8E1E9966-6E6F-F1E2-EC6E-7086EE74EA3E}"/>
              </a:ext>
            </a:extLst>
          </p:cNvPr>
          <p:cNvGrpSpPr/>
          <p:nvPr/>
        </p:nvGrpSpPr>
        <p:grpSpPr>
          <a:xfrm>
            <a:off x="6280094" y="4058682"/>
            <a:ext cx="1980000" cy="1080000"/>
            <a:chOff x="4622109" y="4181451"/>
            <a:chExt cx="1980000" cy="1080000"/>
          </a:xfrm>
        </p:grpSpPr>
        <p:sp>
          <p:nvSpPr>
            <p:cNvPr id="11" name="Téglalap: lekerekített 10">
              <a:extLst>
                <a:ext uri="{FF2B5EF4-FFF2-40B4-BE49-F238E27FC236}">
                  <a16:creationId xmlns:a16="http://schemas.microsoft.com/office/drawing/2014/main" id="{13900CA3-DB6E-9CB4-975E-E93CA1CBBC89}"/>
                </a:ext>
              </a:extLst>
            </p:cNvPr>
            <p:cNvSpPr/>
            <p:nvPr/>
          </p:nvSpPr>
          <p:spPr>
            <a:xfrm rot="16200000">
              <a:off x="5072109" y="3731451"/>
              <a:ext cx="1080000" cy="1980000"/>
            </a:xfrm>
            <a:prstGeom prst="roundRect">
              <a:avLst/>
            </a:prstGeom>
            <a:solidFill>
              <a:srgbClr val="5A96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DB0AB8BA-4BB7-2BD2-9A88-0A73BC7409EE}"/>
                </a:ext>
              </a:extLst>
            </p:cNvPr>
            <p:cNvSpPr txBox="1"/>
            <p:nvPr/>
          </p:nvSpPr>
          <p:spPr>
            <a:xfrm>
              <a:off x="4676964" y="4275175"/>
              <a:ext cx="187028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600" dirty="0">
                  <a:latin typeface="Arial" panose="020B0604020202020204" pitchFamily="34" charset="0"/>
                  <a:cs typeface="Arial" panose="020B0604020202020204" pitchFamily="34" charset="0"/>
                </a:rPr>
                <a:t>Polányi János</a:t>
              </a:r>
            </a:p>
          </p:txBody>
        </p:sp>
      </p:grpSp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33C9FADC-5B18-D894-F254-B395F59356D9}"/>
              </a:ext>
            </a:extLst>
          </p:cNvPr>
          <p:cNvGrpSpPr/>
          <p:nvPr/>
        </p:nvGrpSpPr>
        <p:grpSpPr>
          <a:xfrm>
            <a:off x="9175501" y="4058682"/>
            <a:ext cx="1980000" cy="1080000"/>
            <a:chOff x="8059247" y="4087727"/>
            <a:chExt cx="1980000" cy="1080000"/>
          </a:xfrm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838D0783-EF36-DE44-6784-861D886A3557}"/>
                </a:ext>
              </a:extLst>
            </p:cNvPr>
            <p:cNvSpPr/>
            <p:nvPr/>
          </p:nvSpPr>
          <p:spPr>
            <a:xfrm rot="16200000">
              <a:off x="8509247" y="3637727"/>
              <a:ext cx="1080000" cy="1980000"/>
            </a:xfrm>
            <a:prstGeom prst="roundRect">
              <a:avLst/>
            </a:prstGeom>
            <a:solidFill>
              <a:srgbClr val="5A96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" name="Szövegdoboz 16">
              <a:extLst>
                <a:ext uri="{FF2B5EF4-FFF2-40B4-BE49-F238E27FC236}">
                  <a16:creationId xmlns:a16="http://schemas.microsoft.com/office/drawing/2014/main" id="{44366A6F-0D8E-1792-239A-DDA62AACB598}"/>
                </a:ext>
              </a:extLst>
            </p:cNvPr>
            <p:cNvSpPr txBox="1"/>
            <p:nvPr/>
          </p:nvSpPr>
          <p:spPr>
            <a:xfrm>
              <a:off x="8114102" y="4181451"/>
              <a:ext cx="187028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600" dirty="0">
                  <a:latin typeface="Arial" panose="020B0604020202020204" pitchFamily="34" charset="0"/>
                  <a:cs typeface="Arial" panose="020B0604020202020204" pitchFamily="34" charset="0"/>
                </a:rPr>
                <a:t>Oláh György</a:t>
              </a:r>
            </a:p>
          </p:txBody>
        </p:sp>
      </p:grpSp>
      <p:pic>
        <p:nvPicPr>
          <p:cNvPr id="27" name="Kép 26">
            <a:extLst>
              <a:ext uri="{FF2B5EF4-FFF2-40B4-BE49-F238E27FC236}">
                <a16:creationId xmlns:a16="http://schemas.microsoft.com/office/drawing/2014/main" id="{219A744D-20D3-3213-4E83-95623B9B5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630" y="1671425"/>
            <a:ext cx="1304925" cy="1905000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2E352872-B507-9B10-33CC-5FA1048F8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90" y="1671425"/>
            <a:ext cx="1257300" cy="1905000"/>
          </a:xfrm>
          <a:prstGeom prst="rect">
            <a:avLst/>
          </a:prstGeom>
        </p:spPr>
      </p:pic>
      <p:pic>
        <p:nvPicPr>
          <p:cNvPr id="31" name="Kép 30">
            <a:extLst>
              <a:ext uri="{FF2B5EF4-FFF2-40B4-BE49-F238E27FC236}">
                <a16:creationId xmlns:a16="http://schemas.microsoft.com/office/drawing/2014/main" id="{A72D0D6C-2551-6DD0-AA3B-0DAAABF8FC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273" y="1671425"/>
            <a:ext cx="1343025" cy="1905000"/>
          </a:xfrm>
          <a:prstGeom prst="rect">
            <a:avLst/>
          </a:prstGeom>
        </p:spPr>
      </p:pic>
      <p:pic>
        <p:nvPicPr>
          <p:cNvPr id="33" name="Kép 32">
            <a:extLst>
              <a:ext uri="{FF2B5EF4-FFF2-40B4-BE49-F238E27FC236}">
                <a16:creationId xmlns:a16="http://schemas.microsoft.com/office/drawing/2014/main" id="{695FB520-1A81-ADB3-A5C8-E0B3F7763E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275" y="1671425"/>
            <a:ext cx="131445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325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Click="0" advTm="3000"/>
    </mc:Choice>
    <mc:Fallback>
      <p:transition spd="slow"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50</Words>
  <Application>Microsoft Office PowerPoint</Application>
  <PresentationFormat>Egyéni</PresentationFormat>
  <Paragraphs>24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Office-téma</vt:lpstr>
      <vt:lpstr>Magyar kémiai Nobel-díjasok</vt:lpstr>
      <vt:lpstr>Mivel foglalkoztak?</vt:lpstr>
      <vt:lpstr>Mikor kapták a Nobel-díjat?</vt:lpstr>
      <vt:lpstr>Kémiai Nobel-díjasok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2</cp:revision>
  <dcterms:created xsi:type="dcterms:W3CDTF">2026-10-11T18:09:04Z</dcterms:created>
  <dcterms:modified xsi:type="dcterms:W3CDTF">2026-10-11T18:42:58Z</dcterms:modified>
</cp:coreProperties>
</file>