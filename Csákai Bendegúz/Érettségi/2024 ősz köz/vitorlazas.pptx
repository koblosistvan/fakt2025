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2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CAD373C-37FA-4F92-F542-1111C9A43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5A8A02D-D22C-F350-1042-9F12528909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47357C7-3E2A-91A3-B3D2-F038DF0C9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0F9C8-C06B-4862-8CDE-4FB506F41BB6}" type="datetimeFigureOut">
              <a:rPr lang="hu-HU" smtClean="0"/>
              <a:t>2026. 10. 16.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F52894D-A2F2-CEDA-925F-800D4AD0C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0E2E304-D64C-7239-705B-8042B3A27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7C824-86C3-45BA-9053-E69AD5340A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21875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6488403-2733-8E8F-9014-744094CF0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884AF15-15E9-D0C2-16CB-1DAC11D1A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7E52414-B3E3-F313-3EF8-5BAA9316C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0F9C8-C06B-4862-8CDE-4FB506F41BB6}" type="datetimeFigureOut">
              <a:rPr lang="hu-HU" smtClean="0"/>
              <a:t>2026. 10. 16.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FD809E5-CA52-5402-C296-4CF735710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06A2DEF-1EBC-6F41-4956-0C1CFC620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7C824-86C3-45BA-9053-E69AD5340A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5503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0900C0F-5F0F-8CA9-7640-436C12146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8672181-C80C-4A61-6011-4472E2CA5F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5064F6F-0756-AD25-DF23-04351CAD7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0F9C8-C06B-4862-8CDE-4FB506F41BB6}" type="datetimeFigureOut">
              <a:rPr lang="hu-HU" smtClean="0"/>
              <a:t>2026. 10. 16.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B774149-BEFA-5478-95FD-52FBE916B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BE9A7BB-9B4F-6034-D65E-0A0350C33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7C824-86C3-45BA-9053-E69AD5340A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13752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833A4BC-D9E6-470B-58E1-6BCFAA765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3D4D468-3F27-07E9-6F00-FFF0D60CDE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75667462-010A-0C93-7A7D-7F69501D42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3E60C31-990F-8B70-3294-741F940AF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0F9C8-C06B-4862-8CDE-4FB506F41BB6}" type="datetimeFigureOut">
              <a:rPr lang="hu-HU" smtClean="0"/>
              <a:t>2026. 10. 16.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9AB4485-BE26-9055-0507-DF7168AF0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FED4858-4C73-28D9-FEA2-4F7CAF2CA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7C824-86C3-45BA-9053-E69AD5340A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41595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27D37C4-AF4F-6772-A686-68A559884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9C5E186-6834-3802-6C4E-44025AA6F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F8CC0AE-D826-92F4-160A-418931F99A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D8B8B79F-7D14-C919-B636-DE89AD43A0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2C416FC8-471E-EF93-41A0-85FF6886CD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3CEC6032-7C3A-65C0-85F0-7D825A734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0F9C8-C06B-4862-8CDE-4FB506F41BB6}" type="datetimeFigureOut">
              <a:rPr lang="hu-HU" smtClean="0"/>
              <a:t>2026. 10. 16.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725EB8A9-70A1-DA5C-942D-60E4A5319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D817DEAF-0E8F-2C83-238E-1B86DD00C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7C824-86C3-45BA-9053-E69AD5340A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3416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B356634-0BF7-3B13-072C-9BAA50C4A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34D593F1-CF45-F5E3-5E48-FFEC61C36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0F9C8-C06B-4862-8CDE-4FB506F41BB6}" type="datetimeFigureOut">
              <a:rPr lang="hu-HU" smtClean="0"/>
              <a:t>2026. 10. 16.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7D0B2978-BCA6-D6BC-9151-AAFE7091B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6E794734-3F71-8E6F-865F-BA6A1345A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7C824-86C3-45BA-9053-E69AD5340A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3062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87A2B3C5-7A59-5B62-4EC0-208D19E48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0F9C8-C06B-4862-8CDE-4FB506F41BB6}" type="datetimeFigureOut">
              <a:rPr lang="hu-HU" smtClean="0"/>
              <a:t>2026. 10. 16.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3D096AA7-3817-EF7E-9081-D70DC5FFC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A0E7D38-773B-E49C-5EAF-FEBE6D648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7C824-86C3-45BA-9053-E69AD5340A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15532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74A36D3-3AF2-B62B-253D-D79BD82F4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52018A9-17F5-C41A-C77F-88BC98047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8FB42CE-A13C-5D4F-0D8F-613129DE4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6441ABF-5CC5-7C65-7C1A-854A437CD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0F9C8-C06B-4862-8CDE-4FB506F41BB6}" type="datetimeFigureOut">
              <a:rPr lang="hu-HU" smtClean="0"/>
              <a:t>2026. 10. 16.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2551930-CACF-5A56-5DD7-F00D1F715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1D04F4F-EFB5-DDDA-CAD3-DC5E342AF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7C824-86C3-45BA-9053-E69AD5340A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85314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76C067B-449F-4596-2419-53F423423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14E80667-8994-82FF-02CB-2563AD51F4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897F519-94D4-0D9E-1630-1682ED2DD2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AE2E200-F010-CAF3-CBCA-52777F7DE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0F9C8-C06B-4862-8CDE-4FB506F41BB6}" type="datetimeFigureOut">
              <a:rPr lang="hu-HU" smtClean="0"/>
              <a:t>2026. 10. 16.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C78A15E-32E5-DB0C-C7C0-E4FEF9DCA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25797C8-5DA5-FBD6-43A4-21501850A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7C824-86C3-45BA-9053-E69AD5340A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46378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3941F12-1AE0-1589-5B05-7D5A58C01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D4AA8E87-6DB8-357F-F9E0-46365AEDF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260C4D1-0265-F20F-DE40-E250F56B9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0F9C8-C06B-4862-8CDE-4FB506F41BB6}" type="datetimeFigureOut">
              <a:rPr lang="hu-HU" smtClean="0"/>
              <a:t>2026. 10. 16.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1B0A4B3-B6BA-644B-92AD-BD9875D9C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97A6D84-1695-026E-1739-1D6FE9A42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7C824-86C3-45BA-9053-E69AD5340A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04394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4B463452-DD27-0AC1-347A-B464EBB7C4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467CEDE-E8C6-084F-6618-75314204A7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F34E7EF-4FAE-6E44-D6B1-88EA3F385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0F9C8-C06B-4862-8CDE-4FB506F41BB6}" type="datetimeFigureOut">
              <a:rPr lang="hu-HU" smtClean="0"/>
              <a:t>2026. 10. 16.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0E385BC-5CFB-CEDE-B81F-F1CABB90E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5689EBF-6B42-EB69-DD2A-F9ADDE020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7C824-86C3-45BA-9053-E69AD5340A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45794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0E60AB35-3600-4848-3AD1-45B49E4CD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389EBBF-D3C5-6DB6-7F35-785139ACF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D3DA9F2-9F32-8328-D9A8-757C5229E9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E0F9C8-C06B-4862-8CDE-4FB506F41BB6}" type="datetimeFigureOut">
              <a:rPr lang="hu-HU" smtClean="0"/>
              <a:t>2026. 10. 16.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521BDAA-46AE-8C04-C568-FF7241BBD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BF4DCAB-A726-47F0-5708-2A275EB442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37C824-86C3-45BA-9053-E69AD5340A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0136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0943A99-B941-EAE6-6038-D0A84CA2D0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124" y="542924"/>
            <a:ext cx="5734051" cy="1657352"/>
          </a:xfrm>
        </p:spPr>
        <p:txBody>
          <a:bodyPr>
            <a:normAutofit/>
          </a:bodyPr>
          <a:lstStyle/>
          <a:p>
            <a:r>
              <a:rPr lang="hu-HU" sz="960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Vitorlázás</a:t>
            </a:r>
            <a:endParaRPr lang="hu-HU" sz="5400" dirty="0">
              <a:solidFill>
                <a:schemeClr val="bg1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354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lipszis 20">
            <a:extLst>
              <a:ext uri="{FF2B5EF4-FFF2-40B4-BE49-F238E27FC236}">
                <a16:creationId xmlns:a16="http://schemas.microsoft.com/office/drawing/2014/main" id="{D1BE654A-FAE2-B248-67C9-91330844B40A}"/>
              </a:ext>
            </a:extLst>
          </p:cNvPr>
          <p:cNvSpPr/>
          <p:nvPr/>
        </p:nvSpPr>
        <p:spPr>
          <a:xfrm>
            <a:off x="6434363" y="1695675"/>
            <a:ext cx="3600000" cy="36000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70A1C9C-4954-F733-1B73-27EEFEDA8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38200"/>
            <a:ext cx="3303587" cy="1219200"/>
          </a:xfrm>
        </p:spPr>
        <p:txBody>
          <a:bodyPr/>
          <a:lstStyle/>
          <a:p>
            <a:r>
              <a:rPr lang="hu-HU" sz="720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Szélkör</a:t>
            </a:r>
            <a:endParaRPr lang="hu-HU" dirty="0">
              <a:solidFill>
                <a:schemeClr val="bg1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ABE143EF-F2D9-E1C8-170A-AFFEDDDEA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solidFill>
            <a:schemeClr val="bg1">
              <a:alpha val="70000"/>
            </a:schemeClr>
          </a:solidFill>
        </p:spPr>
        <p:txBody>
          <a:bodyPr>
            <a:noAutofit/>
          </a:bodyPr>
          <a:lstStyle/>
          <a:p>
            <a:r>
              <a:rPr lang="hu-HU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Ha a hajónk a jobb oldala felől kapja a szelet, akkor jobbcsapáson haladunk, ha a bal oldal felől, akkor balcsapáson. Így az ismert menetirányok a teljes 360°-ot lefedik, felrajzolhatjuk a szélkört.</a:t>
            </a:r>
          </a:p>
        </p:txBody>
      </p:sp>
      <p:sp>
        <p:nvSpPr>
          <p:cNvPr id="16" name="Körcikk 15">
            <a:extLst>
              <a:ext uri="{FF2B5EF4-FFF2-40B4-BE49-F238E27FC236}">
                <a16:creationId xmlns:a16="http://schemas.microsoft.com/office/drawing/2014/main" id="{54F4050A-B963-D1B4-46D7-D3371B70D264}"/>
              </a:ext>
            </a:extLst>
          </p:cNvPr>
          <p:cNvSpPr/>
          <p:nvPr/>
        </p:nvSpPr>
        <p:spPr>
          <a:xfrm rot="5400000">
            <a:off x="7334363" y="2487818"/>
            <a:ext cx="1800000" cy="419100"/>
          </a:xfrm>
          <a:prstGeom prst="pie">
            <a:avLst>
              <a:gd name="adj1" fmla="val 5459778"/>
              <a:gd name="adj2" fmla="val 16200000"/>
            </a:avLst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18" name="Körcikk 17">
            <a:extLst>
              <a:ext uri="{FF2B5EF4-FFF2-40B4-BE49-F238E27FC236}">
                <a16:creationId xmlns:a16="http://schemas.microsoft.com/office/drawing/2014/main" id="{DD0A1037-C2A1-7658-6A40-1A4C8F60F164}"/>
              </a:ext>
            </a:extLst>
          </p:cNvPr>
          <p:cNvSpPr/>
          <p:nvPr/>
        </p:nvSpPr>
        <p:spPr>
          <a:xfrm rot="2700000">
            <a:off x="6792317" y="2728080"/>
            <a:ext cx="1800000" cy="419100"/>
          </a:xfrm>
          <a:prstGeom prst="pie">
            <a:avLst>
              <a:gd name="adj1" fmla="val 5459778"/>
              <a:gd name="adj2" fmla="val 16200000"/>
            </a:avLst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0" name="Körcikk 19">
            <a:extLst>
              <a:ext uri="{FF2B5EF4-FFF2-40B4-BE49-F238E27FC236}">
                <a16:creationId xmlns:a16="http://schemas.microsoft.com/office/drawing/2014/main" id="{2104B7DB-2053-E3A6-59BA-6EC2B09404D9}"/>
              </a:ext>
            </a:extLst>
          </p:cNvPr>
          <p:cNvSpPr/>
          <p:nvPr/>
        </p:nvSpPr>
        <p:spPr>
          <a:xfrm>
            <a:off x="6584281" y="3286125"/>
            <a:ext cx="1800000" cy="419100"/>
          </a:xfrm>
          <a:prstGeom prst="pie">
            <a:avLst>
              <a:gd name="adj1" fmla="val 5459778"/>
              <a:gd name="adj2" fmla="val 16200000"/>
            </a:avLst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C8F36D2C-EF26-0176-A254-8A7D817B3BF2}"/>
              </a:ext>
            </a:extLst>
          </p:cNvPr>
          <p:cNvSpPr/>
          <p:nvPr/>
        </p:nvSpPr>
        <p:spPr>
          <a:xfrm>
            <a:off x="6254363" y="195939"/>
            <a:ext cx="360000" cy="133200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" name="Nyíl: lefelé mutató 25">
            <a:extLst>
              <a:ext uri="{FF2B5EF4-FFF2-40B4-BE49-F238E27FC236}">
                <a16:creationId xmlns:a16="http://schemas.microsoft.com/office/drawing/2014/main" id="{A396C86D-E7AB-DF2D-EB46-04CDCF316237}"/>
              </a:ext>
            </a:extLst>
          </p:cNvPr>
          <p:cNvSpPr/>
          <p:nvPr/>
        </p:nvSpPr>
        <p:spPr>
          <a:xfrm>
            <a:off x="9117376" y="195939"/>
            <a:ext cx="360000" cy="133200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" name="Nyíl: lefelé mutató 27">
            <a:extLst>
              <a:ext uri="{FF2B5EF4-FFF2-40B4-BE49-F238E27FC236}">
                <a16:creationId xmlns:a16="http://schemas.microsoft.com/office/drawing/2014/main" id="{5F28FD05-FDD4-2D3F-7D7E-A786896C9D6E}"/>
              </a:ext>
            </a:extLst>
          </p:cNvPr>
          <p:cNvSpPr/>
          <p:nvPr/>
        </p:nvSpPr>
        <p:spPr>
          <a:xfrm>
            <a:off x="9854363" y="195939"/>
            <a:ext cx="360000" cy="133200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" name="Körcikk 31">
            <a:extLst>
              <a:ext uri="{FF2B5EF4-FFF2-40B4-BE49-F238E27FC236}">
                <a16:creationId xmlns:a16="http://schemas.microsoft.com/office/drawing/2014/main" id="{361349E3-B465-5193-CAA6-F4E0747600EE}"/>
              </a:ext>
            </a:extLst>
          </p:cNvPr>
          <p:cNvSpPr/>
          <p:nvPr/>
        </p:nvSpPr>
        <p:spPr>
          <a:xfrm rot="18900000">
            <a:off x="6824543" y="3825689"/>
            <a:ext cx="1800000" cy="419100"/>
          </a:xfrm>
          <a:prstGeom prst="pie">
            <a:avLst>
              <a:gd name="adj1" fmla="val 5459778"/>
              <a:gd name="adj2" fmla="val 16200000"/>
            </a:avLst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4" name="Körcikk 33">
            <a:extLst>
              <a:ext uri="{FF2B5EF4-FFF2-40B4-BE49-F238E27FC236}">
                <a16:creationId xmlns:a16="http://schemas.microsoft.com/office/drawing/2014/main" id="{04FAE613-9060-C922-B70E-47808EABF806}"/>
              </a:ext>
            </a:extLst>
          </p:cNvPr>
          <p:cNvSpPr/>
          <p:nvPr/>
        </p:nvSpPr>
        <p:spPr>
          <a:xfrm rot="16200000">
            <a:off x="7382588" y="4033725"/>
            <a:ext cx="1800000" cy="419100"/>
          </a:xfrm>
          <a:prstGeom prst="pie">
            <a:avLst>
              <a:gd name="adj1" fmla="val 5459778"/>
              <a:gd name="adj2" fmla="val 16200000"/>
            </a:avLst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7" name="Körcikk 36">
            <a:extLst>
              <a:ext uri="{FF2B5EF4-FFF2-40B4-BE49-F238E27FC236}">
                <a16:creationId xmlns:a16="http://schemas.microsoft.com/office/drawing/2014/main" id="{1584F865-CED8-4DF6-609E-10A68FED8A3B}"/>
              </a:ext>
            </a:extLst>
          </p:cNvPr>
          <p:cNvSpPr/>
          <p:nvPr/>
        </p:nvSpPr>
        <p:spPr>
          <a:xfrm rot="10800000">
            <a:off x="8141238" y="3244488"/>
            <a:ext cx="1800000" cy="419100"/>
          </a:xfrm>
          <a:prstGeom prst="pie">
            <a:avLst>
              <a:gd name="adj1" fmla="val 5459778"/>
              <a:gd name="adj2" fmla="val 16200000"/>
            </a:avLst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9" name="Körcikk 38">
            <a:extLst>
              <a:ext uri="{FF2B5EF4-FFF2-40B4-BE49-F238E27FC236}">
                <a16:creationId xmlns:a16="http://schemas.microsoft.com/office/drawing/2014/main" id="{869D6CF6-00EC-10A8-6866-1FD6EA3C69D1}"/>
              </a:ext>
            </a:extLst>
          </p:cNvPr>
          <p:cNvSpPr/>
          <p:nvPr/>
        </p:nvSpPr>
        <p:spPr>
          <a:xfrm rot="8100000">
            <a:off x="7900976" y="2702442"/>
            <a:ext cx="1800000" cy="419100"/>
          </a:xfrm>
          <a:prstGeom prst="pie">
            <a:avLst>
              <a:gd name="adj1" fmla="val 5459778"/>
              <a:gd name="adj2" fmla="val 16200000"/>
            </a:avLst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45" name="Körcikk 44">
            <a:extLst>
              <a:ext uri="{FF2B5EF4-FFF2-40B4-BE49-F238E27FC236}">
                <a16:creationId xmlns:a16="http://schemas.microsoft.com/office/drawing/2014/main" id="{3C2B7757-D068-1DF8-6948-C83CFA7BDC37}"/>
              </a:ext>
            </a:extLst>
          </p:cNvPr>
          <p:cNvSpPr/>
          <p:nvPr/>
        </p:nvSpPr>
        <p:spPr>
          <a:xfrm rot="13500000">
            <a:off x="7929551" y="3802988"/>
            <a:ext cx="1800000" cy="419100"/>
          </a:xfrm>
          <a:prstGeom prst="pie">
            <a:avLst>
              <a:gd name="adj1" fmla="val 5459778"/>
              <a:gd name="adj2" fmla="val 16200000"/>
            </a:avLst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47" name="Szövegdoboz 46">
            <a:extLst>
              <a:ext uri="{FF2B5EF4-FFF2-40B4-BE49-F238E27FC236}">
                <a16:creationId xmlns:a16="http://schemas.microsoft.com/office/drawing/2014/main" id="{6E3B1228-AAA9-EF17-BC7E-31739E7EAC86}"/>
              </a:ext>
            </a:extLst>
          </p:cNvPr>
          <p:cNvSpPr txBox="1"/>
          <p:nvPr/>
        </p:nvSpPr>
        <p:spPr>
          <a:xfrm>
            <a:off x="9614121" y="1814029"/>
            <a:ext cx="1831556" cy="424732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6pPr>
            <a:lvl7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7pPr>
            <a:lvl8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8pPr>
            <a:lvl9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9pPr>
          </a:lstStyle>
          <a:p>
            <a:r>
              <a:rPr lang="hu-HU" dirty="0"/>
              <a:t>Negyedszél</a:t>
            </a:r>
          </a:p>
          <a:p>
            <a:endParaRPr lang="hu-HU" dirty="0"/>
          </a:p>
        </p:txBody>
      </p:sp>
      <p:sp>
        <p:nvSpPr>
          <p:cNvPr id="49" name="Szövegdoboz 48">
            <a:extLst>
              <a:ext uri="{FF2B5EF4-FFF2-40B4-BE49-F238E27FC236}">
                <a16:creationId xmlns:a16="http://schemas.microsoft.com/office/drawing/2014/main" id="{06170404-4109-B128-FDAC-09B74AF1B0EA}"/>
              </a:ext>
            </a:extLst>
          </p:cNvPr>
          <p:cNvSpPr txBox="1"/>
          <p:nvPr/>
        </p:nvSpPr>
        <p:spPr>
          <a:xfrm>
            <a:off x="10118866" y="3244488"/>
            <a:ext cx="1133929" cy="424732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6pPr>
            <a:lvl7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7pPr>
            <a:lvl8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8pPr>
            <a:lvl9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9pPr>
          </a:lstStyle>
          <a:p>
            <a:r>
              <a:rPr lang="hu-HU" dirty="0"/>
              <a:t>Félszél</a:t>
            </a:r>
          </a:p>
          <a:p>
            <a:endParaRPr lang="hu-HU" dirty="0"/>
          </a:p>
        </p:txBody>
      </p:sp>
      <p:sp>
        <p:nvSpPr>
          <p:cNvPr id="51" name="Szövegdoboz 50">
            <a:extLst>
              <a:ext uri="{FF2B5EF4-FFF2-40B4-BE49-F238E27FC236}">
                <a16:creationId xmlns:a16="http://schemas.microsoft.com/office/drawing/2014/main" id="{7E81147F-2077-67F7-C8A4-D49890BCCC47}"/>
              </a:ext>
            </a:extLst>
          </p:cNvPr>
          <p:cNvSpPr txBox="1"/>
          <p:nvPr/>
        </p:nvSpPr>
        <p:spPr>
          <a:xfrm>
            <a:off x="9148252" y="5143275"/>
            <a:ext cx="2856189" cy="424732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6pPr>
            <a:lvl7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7pPr>
            <a:lvl8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8pPr>
            <a:lvl9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9pPr>
          </a:lstStyle>
          <a:p>
            <a:r>
              <a:rPr lang="hu-HU" dirty="0"/>
              <a:t>Háromnegyed-szél</a:t>
            </a:r>
          </a:p>
          <a:p>
            <a:endParaRPr lang="hu-HU" dirty="0"/>
          </a:p>
        </p:txBody>
      </p:sp>
      <p:sp>
        <p:nvSpPr>
          <p:cNvPr id="53" name="Szövegdoboz 52">
            <a:extLst>
              <a:ext uri="{FF2B5EF4-FFF2-40B4-BE49-F238E27FC236}">
                <a16:creationId xmlns:a16="http://schemas.microsoft.com/office/drawing/2014/main" id="{E69BD512-4700-9409-0BFC-8DE7A2A72EE5}"/>
              </a:ext>
            </a:extLst>
          </p:cNvPr>
          <p:cNvSpPr txBox="1"/>
          <p:nvPr/>
        </p:nvSpPr>
        <p:spPr>
          <a:xfrm>
            <a:off x="7549763" y="5463804"/>
            <a:ext cx="1300862" cy="424732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6pPr>
            <a:lvl7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7pPr>
            <a:lvl8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8pPr>
            <a:lvl9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9pPr>
          </a:lstStyle>
          <a:p>
            <a:r>
              <a:rPr lang="hu-HU" dirty="0"/>
              <a:t>Hátszél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152730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2FFCE7-9422-0275-316D-1404832D1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4B7E209-8829-A06C-F07C-E8D161E1E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>
            <a:normAutofit fontScale="90000"/>
          </a:bodyPr>
          <a:lstStyle/>
          <a:p>
            <a:r>
              <a:rPr lang="hu-HU" sz="800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Fordulás</a:t>
            </a:r>
            <a:endParaRPr lang="hu-HU" sz="4400" dirty="0">
              <a:solidFill>
                <a:schemeClr val="bg1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2CE909AD-CFB8-8BFC-0B5A-DA766B9C2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solidFill>
            <a:schemeClr val="bg1">
              <a:alpha val="7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r>
              <a:rPr lang="hu-HU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A forduló egy szél felé történő csapásváltó manőver. A vitorla átkerül az egyik oldalról a másikra, megtörténik a csapásváltás. A forduló mindig élesedéssel kezdődik szélbeállásig, majd ejtéssel, az új menetirány felvételével fejeződik be.</a:t>
            </a:r>
          </a:p>
          <a:p>
            <a:endParaRPr lang="hu-HU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6" name="Körcikk 5">
            <a:extLst>
              <a:ext uri="{FF2B5EF4-FFF2-40B4-BE49-F238E27FC236}">
                <a16:creationId xmlns:a16="http://schemas.microsoft.com/office/drawing/2014/main" id="{150B67C4-7991-22AB-9B28-A5BB9D589197}"/>
              </a:ext>
            </a:extLst>
          </p:cNvPr>
          <p:cNvSpPr/>
          <p:nvPr/>
        </p:nvSpPr>
        <p:spPr>
          <a:xfrm rot="8853025">
            <a:off x="6886700" y="2621281"/>
            <a:ext cx="1800000" cy="419100"/>
          </a:xfrm>
          <a:prstGeom prst="pie">
            <a:avLst>
              <a:gd name="adj1" fmla="val 5459778"/>
              <a:gd name="adj2" fmla="val 16200000"/>
            </a:avLst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8" name="Körcikk 7">
            <a:extLst>
              <a:ext uri="{FF2B5EF4-FFF2-40B4-BE49-F238E27FC236}">
                <a16:creationId xmlns:a16="http://schemas.microsoft.com/office/drawing/2014/main" id="{B51D3B86-2822-A59D-70E2-3A96C511F106}"/>
              </a:ext>
            </a:extLst>
          </p:cNvPr>
          <p:cNvSpPr/>
          <p:nvPr/>
        </p:nvSpPr>
        <p:spPr>
          <a:xfrm rot="1826928">
            <a:off x="8234363" y="5375363"/>
            <a:ext cx="1800000" cy="419100"/>
          </a:xfrm>
          <a:prstGeom prst="pie">
            <a:avLst>
              <a:gd name="adj1" fmla="val 5459778"/>
              <a:gd name="adj2" fmla="val 16200000"/>
            </a:avLst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48BDB789-81FE-3698-ABE0-9B64290022DF}"/>
              </a:ext>
            </a:extLst>
          </p:cNvPr>
          <p:cNvSpPr/>
          <p:nvPr/>
        </p:nvSpPr>
        <p:spPr>
          <a:xfrm>
            <a:off x="10214363" y="5659438"/>
            <a:ext cx="1800000" cy="419100"/>
          </a:xfrm>
          <a:prstGeom prst="pie">
            <a:avLst>
              <a:gd name="adj1" fmla="val 5459778"/>
              <a:gd name="adj2" fmla="val 16200000"/>
            </a:avLst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12" name="Körcikk 11">
            <a:extLst>
              <a:ext uri="{FF2B5EF4-FFF2-40B4-BE49-F238E27FC236}">
                <a16:creationId xmlns:a16="http://schemas.microsoft.com/office/drawing/2014/main" id="{4B979845-E9AD-03E8-CA0E-55B33C41F273}"/>
              </a:ext>
            </a:extLst>
          </p:cNvPr>
          <p:cNvSpPr/>
          <p:nvPr/>
        </p:nvSpPr>
        <p:spPr>
          <a:xfrm rot="4886023">
            <a:off x="6752155" y="4279400"/>
            <a:ext cx="1800000" cy="419100"/>
          </a:xfrm>
          <a:prstGeom prst="pie">
            <a:avLst>
              <a:gd name="adj1" fmla="val 5459778"/>
              <a:gd name="adj2" fmla="val 16200000"/>
            </a:avLst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14" name="Körcikk 13">
            <a:extLst>
              <a:ext uri="{FF2B5EF4-FFF2-40B4-BE49-F238E27FC236}">
                <a16:creationId xmlns:a16="http://schemas.microsoft.com/office/drawing/2014/main" id="{581F5B66-DD8E-2B8B-9847-5351A525B435}"/>
              </a:ext>
            </a:extLst>
          </p:cNvPr>
          <p:cNvSpPr/>
          <p:nvPr/>
        </p:nvSpPr>
        <p:spPr>
          <a:xfrm rot="10800000">
            <a:off x="9314363" y="1781638"/>
            <a:ext cx="1800000" cy="419100"/>
          </a:xfrm>
          <a:prstGeom prst="pie">
            <a:avLst>
              <a:gd name="adj1" fmla="val 5459778"/>
              <a:gd name="adj2" fmla="val 16200000"/>
            </a:avLst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16" name="Nyíl: lefelé mutató 15">
            <a:extLst>
              <a:ext uri="{FF2B5EF4-FFF2-40B4-BE49-F238E27FC236}">
                <a16:creationId xmlns:a16="http://schemas.microsoft.com/office/drawing/2014/main" id="{FD2340EB-67C5-81FB-C36C-FB75F1138582}"/>
              </a:ext>
            </a:extLst>
          </p:cNvPr>
          <p:cNvSpPr/>
          <p:nvPr/>
        </p:nvSpPr>
        <p:spPr>
          <a:xfrm>
            <a:off x="6254363" y="195939"/>
            <a:ext cx="360000" cy="133200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Nyíl: lefelé mutató 17">
            <a:extLst>
              <a:ext uri="{FF2B5EF4-FFF2-40B4-BE49-F238E27FC236}">
                <a16:creationId xmlns:a16="http://schemas.microsoft.com/office/drawing/2014/main" id="{68AEC6E0-2583-0E29-E44F-1964FDFEC29E}"/>
              </a:ext>
            </a:extLst>
          </p:cNvPr>
          <p:cNvSpPr/>
          <p:nvPr/>
        </p:nvSpPr>
        <p:spPr>
          <a:xfrm>
            <a:off x="7993426" y="195939"/>
            <a:ext cx="360000" cy="133200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Nyíl: lefelé mutató 19">
            <a:extLst>
              <a:ext uri="{FF2B5EF4-FFF2-40B4-BE49-F238E27FC236}">
                <a16:creationId xmlns:a16="http://schemas.microsoft.com/office/drawing/2014/main" id="{F9F47773-8CE4-8249-D94A-A2622C87A500}"/>
              </a:ext>
            </a:extLst>
          </p:cNvPr>
          <p:cNvSpPr/>
          <p:nvPr/>
        </p:nvSpPr>
        <p:spPr>
          <a:xfrm>
            <a:off x="9854363" y="195939"/>
            <a:ext cx="360000" cy="133200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D63A6386-DAC4-492E-983E-06B37EAF8B97}"/>
              </a:ext>
            </a:extLst>
          </p:cNvPr>
          <p:cNvSpPr txBox="1"/>
          <p:nvPr/>
        </p:nvSpPr>
        <p:spPr>
          <a:xfrm>
            <a:off x="8662260" y="1669153"/>
            <a:ext cx="931070" cy="424732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6pPr>
            <a:lvl7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7pPr>
            <a:lvl8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8pPr>
            <a:lvl9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9pPr>
          </a:lstStyle>
          <a:p>
            <a:r>
              <a:rPr lang="hu-HU" dirty="0"/>
              <a:t>Ejtés</a:t>
            </a:r>
          </a:p>
          <a:p>
            <a:endParaRPr lang="hu-HU" dirty="0"/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9DB01097-D4D9-5FAC-0771-CC36D01049FC}"/>
              </a:ext>
            </a:extLst>
          </p:cNvPr>
          <p:cNvSpPr txBox="1"/>
          <p:nvPr/>
        </p:nvSpPr>
        <p:spPr>
          <a:xfrm>
            <a:off x="6748032" y="5403265"/>
            <a:ext cx="1424419" cy="363297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6pPr>
            <a:lvl7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7pPr>
            <a:lvl8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8pPr>
            <a:lvl9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9pPr>
          </a:lstStyle>
          <a:p>
            <a:r>
              <a:rPr lang="hu-HU" dirty="0"/>
              <a:t>Élesedés</a:t>
            </a:r>
          </a:p>
          <a:p>
            <a:endParaRPr lang="hu-HU" dirty="0"/>
          </a:p>
        </p:txBody>
      </p:sp>
      <p:sp>
        <p:nvSpPr>
          <p:cNvPr id="31" name="Szövegdoboz 30">
            <a:extLst>
              <a:ext uri="{FF2B5EF4-FFF2-40B4-BE49-F238E27FC236}">
                <a16:creationId xmlns:a16="http://schemas.microsoft.com/office/drawing/2014/main" id="{7BD4F1D7-A952-7FD4-36C7-BC1230784F38}"/>
              </a:ext>
            </a:extLst>
          </p:cNvPr>
          <p:cNvSpPr txBox="1"/>
          <p:nvPr/>
        </p:nvSpPr>
        <p:spPr>
          <a:xfrm>
            <a:off x="8234363" y="3518824"/>
            <a:ext cx="1800000" cy="424732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6pPr>
            <a:lvl7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7pPr>
            <a:lvl8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8pPr>
            <a:lvl9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/>
            </a:lvl9pPr>
          </a:lstStyle>
          <a:p>
            <a:r>
              <a:rPr lang="hu-HU" dirty="0"/>
              <a:t>Szélbeállás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821613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14" grpId="0" animBg="1"/>
    </p:bld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88</Words>
  <Application>Microsoft Office PowerPoint</Application>
  <PresentationFormat>Szélesvásznú</PresentationFormat>
  <Paragraphs>12</Paragraphs>
  <Slides>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Open Sans</vt:lpstr>
      <vt:lpstr>Office-téma</vt:lpstr>
      <vt:lpstr>Vitorlázás</vt:lpstr>
      <vt:lpstr>Szélkör</vt:lpstr>
      <vt:lpstr>Fordulás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 felhasználó</dc:creator>
  <cp:lastModifiedBy>O365 felhasználó</cp:lastModifiedBy>
  <cp:revision>2</cp:revision>
  <dcterms:created xsi:type="dcterms:W3CDTF">2026-10-16T16:20:20Z</dcterms:created>
  <dcterms:modified xsi:type="dcterms:W3CDTF">2026-10-16T16:54:16Z</dcterms:modified>
</cp:coreProperties>
</file>