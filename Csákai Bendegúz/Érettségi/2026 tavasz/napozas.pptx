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1668" y="8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6199D7E-77EB-A72B-82A3-830F579D87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B0E10FE9-FFD4-96E6-BF6E-6858766044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DF9DDCCE-0D00-6599-1942-0FEE4A7C57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52624-FF92-410D-9786-34D9A5B6C517}" type="datetimeFigureOut">
              <a:rPr lang="hu-HU" smtClean="0"/>
              <a:t>2026. 09. 17.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769E684B-349A-F885-4595-41671A472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AA7EA4A2-1457-EF5C-1EA9-5794DD28A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A3D51-AE2A-40B2-844F-F5EA85F1A5D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5281738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C4DCF99-4A89-8C3E-5CC9-0122785C29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97076063-3D59-AF4A-10BB-A2014E51E0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F5B8185A-3462-21C4-AEFB-7B44F06F2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52624-FF92-410D-9786-34D9A5B6C517}" type="datetimeFigureOut">
              <a:rPr lang="hu-HU" smtClean="0"/>
              <a:t>2026. 09. 17.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49138FF5-4D1A-6C5A-36A8-1A69C1F359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E39196A7-E5DC-28E8-0E16-4AAF5B1B0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A3D51-AE2A-40B2-844F-F5EA85F1A5D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68714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E1BADAD-C7A6-3E90-3F27-2A24E91358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23AA07A9-5019-A76C-EFC8-7A120BC192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B3DCBCF7-E003-9C2D-F09A-E4C8A0315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52624-FF92-410D-9786-34D9A5B6C517}" type="datetimeFigureOut">
              <a:rPr lang="hu-HU" smtClean="0"/>
              <a:t>2026. 09. 17.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F1610FA1-0230-A83F-D956-B0EB64B931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04EE4109-177F-05A9-FBDA-4B095FDE9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A3D51-AE2A-40B2-844F-F5EA85F1A5D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62472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3981275-9D93-FE15-A0A9-FB08DDE9D9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C078E217-1054-C983-6505-243C32DADE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0CC332C9-68C0-0C96-500E-6B670D09DE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88D86D6A-E0C1-829C-B4B7-FB45CE99A0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52624-FF92-410D-9786-34D9A5B6C517}" type="datetimeFigureOut">
              <a:rPr lang="hu-HU" smtClean="0"/>
              <a:t>2026. 09. 17.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FEC7F036-0633-AD50-728E-1B83A5593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2BBD7F94-A826-CB5C-8A5E-03391E174D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A3D51-AE2A-40B2-844F-F5EA85F1A5D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617668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381EE93-5662-E203-A7ED-B85B82C8F9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C86FC9A0-8C3B-2CA5-F073-C9621C85E0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DB67C23A-914C-C69C-FB58-C6056088E5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2181AD97-8A8B-CCF4-A9B3-EF662EB147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F53A1520-DB14-9448-B047-214C2BAF8B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97C59D64-BC08-8132-48AA-91ADC24DAA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52624-FF92-410D-9786-34D9A5B6C517}" type="datetimeFigureOut">
              <a:rPr lang="hu-HU" smtClean="0"/>
              <a:t>2026. 09. 17.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92D7FCA2-CE7F-1DF3-3525-7687ECCFD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439929C3-A720-8B62-3E0E-EB9B853F4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A3D51-AE2A-40B2-844F-F5EA85F1A5D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2382197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46F88C4-07DA-0212-2CC3-F4A1966C10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4AC0B055-B5EF-ED4B-B875-7F5EA5A254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52624-FF92-410D-9786-34D9A5B6C517}" type="datetimeFigureOut">
              <a:rPr lang="hu-HU" smtClean="0"/>
              <a:t>2026. 09. 17.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D8B23B42-2D38-0DA0-5605-6F007EDE0D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AFEC92FD-DED8-2F25-FC9A-FBE4E740E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A3D51-AE2A-40B2-844F-F5EA85F1A5D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7735959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B1FE5A5F-4ADA-BB9D-5FA5-F4AC840A00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52624-FF92-410D-9786-34D9A5B6C517}" type="datetimeFigureOut">
              <a:rPr lang="hu-HU" smtClean="0"/>
              <a:t>2026. 09. 17.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879D88D5-EE68-BFBC-7E6C-8830FDBFA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2DDA7A5D-A44A-A62A-9025-624842392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A3D51-AE2A-40B2-844F-F5EA85F1A5D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4869582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EC67949-7B50-8F93-35D9-1560F5F772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5B13CF3B-23F1-F932-7819-F30B10D754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796D3B8A-1E77-C3FF-3477-A886D68750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06BF0EC9-623F-435B-BA57-95D5F3C3B7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52624-FF92-410D-9786-34D9A5B6C517}" type="datetimeFigureOut">
              <a:rPr lang="hu-HU" smtClean="0"/>
              <a:t>2026. 09. 17.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4EFA17DD-B167-F2FD-EBED-19A9463895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FAF2953E-661C-54D0-75E1-6DEEF263D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A3D51-AE2A-40B2-844F-F5EA85F1A5D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219276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E3CE36C-6DC4-1D71-85C2-8796B1DE79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498695F9-F271-F73F-F960-6D82C43F45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9FCE3CD2-0CBB-0B06-BBC2-02C73DE397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6FD96D90-1A8E-C767-22D5-173426F920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52624-FF92-410D-9786-34D9A5B6C517}" type="datetimeFigureOut">
              <a:rPr lang="hu-HU" smtClean="0"/>
              <a:t>2026. 09. 17.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EAFCF024-6A0B-15D6-1711-6772EC0C53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19C75869-F068-7B25-8285-DCE09E10E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A3D51-AE2A-40B2-844F-F5EA85F1A5D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595879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068670F-AB13-1578-74B9-2D1B06DBCB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9D33D069-D195-EF88-D3DD-1C4445DA0F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35EE9796-C73D-20C5-9CBD-68C34C8F2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52624-FF92-410D-9786-34D9A5B6C517}" type="datetimeFigureOut">
              <a:rPr lang="hu-HU" smtClean="0"/>
              <a:t>2026. 09. 17.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68A0BC79-0A0C-1BAD-3FC6-24BB7755D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0A8AA6AF-BD85-8465-0408-081EC13E4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A3D51-AE2A-40B2-844F-F5EA85F1A5D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2351971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65043AED-7C1F-4C88-EFC3-3BE1C9918E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AEE8D29B-E0F4-0C9C-6273-A0A020BF52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181A3B08-EFB5-3D0A-994B-3AB407515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52624-FF92-410D-9786-34D9A5B6C517}" type="datetimeFigureOut">
              <a:rPr lang="hu-HU" smtClean="0"/>
              <a:t>2026. 09. 17.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B8C565A1-00CD-716B-CF25-036117E81D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549F94EF-0126-5D85-8868-0C2550F1A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A3D51-AE2A-40B2-844F-F5EA85F1A5D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6453209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45DAA030-8E76-22BF-DFD1-9CC896B2A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767C9D15-3FA7-45DD-30CB-87CBF34D4D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576532A1-B539-8317-0B5E-8FF5187F70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452624-FF92-410D-9786-34D9A5B6C517}" type="datetimeFigureOut">
              <a:rPr lang="hu-HU" smtClean="0"/>
              <a:t>2026. 09. 17.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89B8FF42-CC5B-6B3A-245D-A4E4F3B209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343D010E-21FC-33F0-4377-B507F83373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5A3D51-AE2A-40B2-844F-F5EA85F1A5D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554386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9DC5D05-7431-EF3C-3AA3-4E3353D8F999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7539977" y="925838"/>
            <a:ext cx="5774993" cy="3080866"/>
          </a:xfrm>
        </p:spPr>
        <p:txBody>
          <a:bodyPr>
            <a:noAutofit/>
          </a:bodyPr>
          <a:lstStyle/>
          <a:p>
            <a:r>
              <a:rPr lang="hu-HU" sz="4000" b="1" cap="all" dirty="0">
                <a:solidFill>
                  <a:schemeClr val="bg1">
                    <a:lumMod val="50000"/>
                  </a:schemeClr>
                </a:solidFill>
                <a:latin typeface="Open sans" panose="020F0502020204030204" pitchFamily="2" charset="0"/>
                <a:ea typeface="Open sans" panose="020F0502020204030204" pitchFamily="2" charset="0"/>
                <a:cs typeface="Open sans" panose="020F0502020204030204" pitchFamily="2" charset="0"/>
              </a:rPr>
              <a:t>A napozás aranyszabályai</a:t>
            </a:r>
            <a:br>
              <a:rPr lang="hu-HU" sz="4000" b="1" cap="all" dirty="0">
                <a:solidFill>
                  <a:schemeClr val="bg1">
                    <a:lumMod val="50000"/>
                  </a:schemeClr>
                </a:solidFill>
                <a:latin typeface="Open sans" panose="020F0502020204030204" pitchFamily="2" charset="0"/>
                <a:ea typeface="Open sans" panose="020F0502020204030204" pitchFamily="2" charset="0"/>
                <a:cs typeface="Open sans" panose="020F0502020204030204" pitchFamily="2" charset="0"/>
              </a:rPr>
            </a:br>
            <a:br>
              <a:rPr lang="hu-HU" sz="4000" b="1" cap="all" dirty="0">
                <a:solidFill>
                  <a:schemeClr val="bg1">
                    <a:lumMod val="50000"/>
                  </a:schemeClr>
                </a:solidFill>
                <a:latin typeface="Open sans" panose="020F0502020204030204" pitchFamily="2" charset="0"/>
                <a:ea typeface="Open sans" panose="020F0502020204030204" pitchFamily="2" charset="0"/>
                <a:cs typeface="Open sans" panose="020F0502020204030204" pitchFamily="2" charset="0"/>
              </a:rPr>
            </a:br>
            <a:br>
              <a:rPr lang="hu-HU" sz="4000" b="1" cap="all" dirty="0">
                <a:solidFill>
                  <a:schemeClr val="bg1">
                    <a:lumMod val="50000"/>
                  </a:schemeClr>
                </a:solidFill>
                <a:latin typeface="Open sans" panose="020F0502020204030204" pitchFamily="2" charset="0"/>
                <a:ea typeface="Open sans" panose="020F0502020204030204" pitchFamily="2" charset="0"/>
                <a:cs typeface="Open sans" panose="020F0502020204030204" pitchFamily="2" charset="0"/>
              </a:rPr>
            </a:br>
            <a:br>
              <a:rPr lang="hu-HU" sz="4000" b="1" cap="all" dirty="0">
                <a:solidFill>
                  <a:schemeClr val="bg1">
                    <a:lumMod val="50000"/>
                  </a:schemeClr>
                </a:solidFill>
                <a:latin typeface="Open sans" panose="020F0502020204030204" pitchFamily="2" charset="0"/>
                <a:ea typeface="Open sans" panose="020F0502020204030204" pitchFamily="2" charset="0"/>
                <a:cs typeface="Open sans" panose="020F0502020204030204" pitchFamily="2" charset="0"/>
              </a:rPr>
            </a:br>
            <a:endParaRPr lang="hu-HU" sz="4000" b="1" cap="all" dirty="0">
              <a:solidFill>
                <a:schemeClr val="bg1">
                  <a:lumMod val="50000"/>
                </a:schemeClr>
              </a:solidFill>
              <a:latin typeface="Open sans" panose="020F0502020204030204" pitchFamily="2" charset="0"/>
              <a:ea typeface="Open sans" panose="020F0502020204030204" pitchFamily="2" charset="0"/>
              <a:cs typeface="Open sans" panose="020F0502020204030204" pitchFamily="2" charset="0"/>
            </a:endParaRPr>
          </a:p>
        </p:txBody>
      </p:sp>
      <p:grpSp>
        <p:nvGrpSpPr>
          <p:cNvPr id="131" name="1">
            <a:extLst>
              <a:ext uri="{FF2B5EF4-FFF2-40B4-BE49-F238E27FC236}">
                <a16:creationId xmlns:a16="http://schemas.microsoft.com/office/drawing/2014/main" id="{E827E5D8-53C4-0BF2-CFD3-F5650D783D8D}"/>
              </a:ext>
            </a:extLst>
          </p:cNvPr>
          <p:cNvGrpSpPr/>
          <p:nvPr/>
        </p:nvGrpSpPr>
        <p:grpSpPr>
          <a:xfrm>
            <a:off x="-1628492" y="925838"/>
            <a:ext cx="8028000" cy="1440000"/>
            <a:chOff x="-1628492" y="925838"/>
            <a:chExt cx="8028000" cy="1440000"/>
          </a:xfrm>
        </p:grpSpPr>
        <p:sp>
          <p:nvSpPr>
            <p:cNvPr id="4" name="Téglalap: lekerekített 3">
              <a:extLst>
                <a:ext uri="{FF2B5EF4-FFF2-40B4-BE49-F238E27FC236}">
                  <a16:creationId xmlns:a16="http://schemas.microsoft.com/office/drawing/2014/main" id="{F878E719-1D83-DB03-0D45-A8EF2C4CDEE3}"/>
                </a:ext>
              </a:extLst>
            </p:cNvPr>
            <p:cNvSpPr>
              <a:spLocks/>
            </p:cNvSpPr>
            <p:nvPr/>
          </p:nvSpPr>
          <p:spPr>
            <a:xfrm>
              <a:off x="-1628492" y="925838"/>
              <a:ext cx="8028000" cy="1440000"/>
            </a:xfrm>
            <a:prstGeom prst="roundRect">
              <a:avLst>
                <a:gd name="adj" fmla="val 50000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6" name="Ellipszis 5">
              <a:extLst>
                <a:ext uri="{FF2B5EF4-FFF2-40B4-BE49-F238E27FC236}">
                  <a16:creationId xmlns:a16="http://schemas.microsoft.com/office/drawing/2014/main" id="{E9419BB7-B795-75F7-22D1-D0B564DB101D}"/>
                </a:ext>
              </a:extLst>
            </p:cNvPr>
            <p:cNvSpPr/>
            <p:nvPr/>
          </p:nvSpPr>
          <p:spPr>
            <a:xfrm>
              <a:off x="5115208" y="1063355"/>
              <a:ext cx="1162050" cy="116205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hu-HU" sz="9600" dirty="0">
                  <a:solidFill>
                    <a:schemeClr val="tx2">
                      <a:lumMod val="25000"/>
                      <a:lumOff val="75000"/>
                    </a:schemeClr>
                  </a:solidFill>
                </a:rPr>
                <a:t>1</a:t>
              </a:r>
            </a:p>
          </p:txBody>
        </p:sp>
        <p:pic>
          <p:nvPicPr>
            <p:cNvPr id="75" name="Kép 74">
              <a:extLst>
                <a:ext uri="{FF2B5EF4-FFF2-40B4-BE49-F238E27FC236}">
                  <a16:creationId xmlns:a16="http://schemas.microsoft.com/office/drawing/2014/main" id="{42C8B4FE-9625-AC57-7220-6DB797C0407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349" y="1200838"/>
              <a:ext cx="857143" cy="800000"/>
            </a:xfrm>
            <a:prstGeom prst="rect">
              <a:avLst/>
            </a:prstGeom>
            <a:ln>
              <a:noFill/>
            </a:ln>
          </p:spPr>
        </p:pic>
        <p:sp>
          <p:nvSpPr>
            <p:cNvPr id="89" name="Téglalap 88">
              <a:extLst>
                <a:ext uri="{FF2B5EF4-FFF2-40B4-BE49-F238E27FC236}">
                  <a16:creationId xmlns:a16="http://schemas.microsoft.com/office/drawing/2014/main" id="{EFA8865F-9799-7C49-9A32-81162D80B98F}"/>
                </a:ext>
              </a:extLst>
            </p:cNvPr>
            <p:cNvSpPr/>
            <p:nvPr/>
          </p:nvSpPr>
          <p:spPr>
            <a:xfrm>
              <a:off x="1038757" y="1096838"/>
              <a:ext cx="50400" cy="100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96" name="Szövegdoboz 95">
              <a:extLst>
                <a:ext uri="{FF2B5EF4-FFF2-40B4-BE49-F238E27FC236}">
                  <a16:creationId xmlns:a16="http://schemas.microsoft.com/office/drawing/2014/main" id="{A12DBD17-8FD6-77DA-3486-F8B0C165DEA9}"/>
                </a:ext>
              </a:extLst>
            </p:cNvPr>
            <p:cNvSpPr txBox="1"/>
            <p:nvPr/>
          </p:nvSpPr>
          <p:spPr>
            <a:xfrm>
              <a:off x="1105324" y="1146868"/>
              <a:ext cx="4207950" cy="9079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sz="2900" dirty="0">
                  <a:solidFill>
                    <a:schemeClr val="bg1"/>
                  </a:solidFill>
                  <a:latin typeface="Open sans" panose="020F0502020204030204" pitchFamily="2" charset="0"/>
                  <a:ea typeface="Open sans" panose="020F0502020204030204" pitchFamily="2" charset="0"/>
                  <a:cs typeface="Open sans" panose="020F0502020204030204" pitchFamily="2" charset="0"/>
                </a:rPr>
                <a:t>Kerüld</a:t>
              </a:r>
            </a:p>
            <a:p>
              <a:r>
                <a:rPr lang="hu-HU" sz="2400" dirty="0">
                  <a:solidFill>
                    <a:schemeClr val="bg1"/>
                  </a:solidFill>
                  <a:latin typeface="Open sans" panose="020F0502020204030204" pitchFamily="2" charset="0"/>
                  <a:ea typeface="Open sans" panose="020F0502020204030204" pitchFamily="2" charset="0"/>
                  <a:cs typeface="Open sans" panose="020F0502020204030204" pitchFamily="2" charset="0"/>
                </a:rPr>
                <a:t> </a:t>
              </a:r>
              <a:r>
                <a:rPr lang="hu-HU" dirty="0">
                  <a:solidFill>
                    <a:schemeClr val="bg1"/>
                  </a:solidFill>
                  <a:latin typeface="Open sans" panose="020F0502020204030204" pitchFamily="2" charset="0"/>
                  <a:ea typeface="Open sans" panose="020F0502020204030204" pitchFamily="2" charset="0"/>
                  <a:cs typeface="Open sans" panose="020F0502020204030204" pitchFamily="2" charset="0"/>
                </a:rPr>
                <a:t>a túl erős napsütést!</a:t>
              </a:r>
              <a:endParaRPr lang="hu-HU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32" name="2">
            <a:extLst>
              <a:ext uri="{FF2B5EF4-FFF2-40B4-BE49-F238E27FC236}">
                <a16:creationId xmlns:a16="http://schemas.microsoft.com/office/drawing/2014/main" id="{2CDE63CC-41D5-68AB-6A24-C97FDA23C427}"/>
              </a:ext>
            </a:extLst>
          </p:cNvPr>
          <p:cNvGrpSpPr/>
          <p:nvPr/>
        </p:nvGrpSpPr>
        <p:grpSpPr>
          <a:xfrm>
            <a:off x="-3071176" y="2362487"/>
            <a:ext cx="8465164" cy="1440000"/>
            <a:chOff x="-3071176" y="2362487"/>
            <a:chExt cx="8465164" cy="1440000"/>
          </a:xfrm>
        </p:grpSpPr>
        <p:sp>
          <p:nvSpPr>
            <p:cNvPr id="124" name="Téglalap: lekerekített 123">
              <a:extLst>
                <a:ext uri="{FF2B5EF4-FFF2-40B4-BE49-F238E27FC236}">
                  <a16:creationId xmlns:a16="http://schemas.microsoft.com/office/drawing/2014/main" id="{B3292640-3872-0E18-0BC8-BC3FF2B30D6A}"/>
                </a:ext>
              </a:extLst>
            </p:cNvPr>
            <p:cNvSpPr>
              <a:spLocks/>
            </p:cNvSpPr>
            <p:nvPr/>
          </p:nvSpPr>
          <p:spPr>
            <a:xfrm>
              <a:off x="-3071176" y="2362487"/>
              <a:ext cx="8028000" cy="1440000"/>
            </a:xfrm>
            <a:prstGeom prst="roundRect">
              <a:avLst>
                <a:gd name="adj" fmla="val 50000"/>
              </a:avLst>
            </a:prstGeom>
            <a:solidFill>
              <a:schemeClr val="tx2">
                <a:lumMod val="50000"/>
                <a:lumOff val="50000"/>
              </a:schemeClr>
            </a:solidFill>
            <a:ln>
              <a:noFill/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pic>
          <p:nvPicPr>
            <p:cNvPr id="126" name="Kép 125">
              <a:extLst>
                <a:ext uri="{FF2B5EF4-FFF2-40B4-BE49-F238E27FC236}">
                  <a16:creationId xmlns:a16="http://schemas.microsoft.com/office/drawing/2014/main" id="{AB64347C-A53E-BC4B-9A05-0DE93396A3A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095" y="2652001"/>
              <a:ext cx="857143" cy="800000"/>
            </a:xfrm>
            <a:prstGeom prst="rect">
              <a:avLst/>
            </a:prstGeom>
            <a:ln>
              <a:noFill/>
            </a:ln>
          </p:spPr>
        </p:pic>
        <p:sp>
          <p:nvSpPr>
            <p:cNvPr id="125" name="Ellipszis 124">
              <a:extLst>
                <a:ext uri="{FF2B5EF4-FFF2-40B4-BE49-F238E27FC236}">
                  <a16:creationId xmlns:a16="http://schemas.microsoft.com/office/drawing/2014/main" id="{AB737447-E45E-1D1E-C208-513053162B6F}"/>
                </a:ext>
              </a:extLst>
            </p:cNvPr>
            <p:cNvSpPr/>
            <p:nvPr/>
          </p:nvSpPr>
          <p:spPr>
            <a:xfrm>
              <a:off x="3672524" y="2500004"/>
              <a:ext cx="1162050" cy="116205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hu-HU" sz="9600" dirty="0">
                  <a:solidFill>
                    <a:schemeClr val="tx2">
                      <a:lumMod val="50000"/>
                      <a:lumOff val="50000"/>
                    </a:schemeClr>
                  </a:solidFill>
                </a:rPr>
                <a:t>2</a:t>
              </a:r>
            </a:p>
          </p:txBody>
        </p:sp>
        <p:sp>
          <p:nvSpPr>
            <p:cNvPr id="127" name="Téglalap 126">
              <a:extLst>
                <a:ext uri="{FF2B5EF4-FFF2-40B4-BE49-F238E27FC236}">
                  <a16:creationId xmlns:a16="http://schemas.microsoft.com/office/drawing/2014/main" id="{07FC3FA6-2EA0-1946-1195-4458E0CC35E7}"/>
                </a:ext>
              </a:extLst>
            </p:cNvPr>
            <p:cNvSpPr/>
            <p:nvPr/>
          </p:nvSpPr>
          <p:spPr>
            <a:xfrm>
              <a:off x="1047503" y="2548001"/>
              <a:ext cx="50400" cy="100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128" name="Szövegdoboz 127">
              <a:extLst>
                <a:ext uri="{FF2B5EF4-FFF2-40B4-BE49-F238E27FC236}">
                  <a16:creationId xmlns:a16="http://schemas.microsoft.com/office/drawing/2014/main" id="{B579B92E-CEBB-A932-CFDB-2E4052679CC3}"/>
                </a:ext>
              </a:extLst>
            </p:cNvPr>
            <p:cNvSpPr txBox="1"/>
            <p:nvPr/>
          </p:nvSpPr>
          <p:spPr>
            <a:xfrm>
              <a:off x="1186038" y="2563388"/>
              <a:ext cx="4207950" cy="9848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sz="2900" dirty="0">
                  <a:solidFill>
                    <a:schemeClr val="bg1"/>
                  </a:solidFill>
                  <a:latin typeface="Open sans" panose="020F0502020204030204" pitchFamily="2" charset="0"/>
                  <a:ea typeface="Open sans" panose="020F0502020204030204" pitchFamily="2" charset="0"/>
                  <a:cs typeface="Open sans" panose="020F0502020204030204" pitchFamily="2" charset="0"/>
                </a:rPr>
                <a:t>Fedd</a:t>
              </a:r>
            </a:p>
            <a:p>
              <a:r>
                <a:rPr lang="hu-HU" sz="2900" dirty="0">
                  <a:solidFill>
                    <a:schemeClr val="bg1"/>
                  </a:solidFill>
                  <a:latin typeface="Open sans" panose="020F0502020204030204" pitchFamily="2" charset="0"/>
                  <a:ea typeface="Open sans" panose="020F0502020204030204" pitchFamily="2" charset="0"/>
                  <a:cs typeface="Open sans" panose="020F0502020204030204" pitchFamily="2" charset="0"/>
                </a:rPr>
                <a:t> </a:t>
              </a:r>
              <a:r>
                <a:rPr lang="hu-HU" dirty="0">
                  <a:solidFill>
                    <a:schemeClr val="bg1"/>
                  </a:solidFill>
                  <a:latin typeface="Open sans" panose="020F0502020204030204" pitchFamily="2" charset="0"/>
                  <a:ea typeface="Open sans" panose="020F0502020204030204" pitchFamily="2" charset="0"/>
                  <a:cs typeface="Open sans" panose="020F0502020204030204" pitchFamily="2" charset="0"/>
                </a:rPr>
                <a:t>el testedet!</a:t>
              </a:r>
              <a:endParaRPr lang="hu-HU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33" name="3">
            <a:extLst>
              <a:ext uri="{FF2B5EF4-FFF2-40B4-BE49-F238E27FC236}">
                <a16:creationId xmlns:a16="http://schemas.microsoft.com/office/drawing/2014/main" id="{3A04EE85-FF0C-A5B4-603E-33FB08A67567}"/>
              </a:ext>
            </a:extLst>
          </p:cNvPr>
          <p:cNvGrpSpPr/>
          <p:nvPr/>
        </p:nvGrpSpPr>
        <p:grpSpPr>
          <a:xfrm>
            <a:off x="-2349834" y="3799136"/>
            <a:ext cx="8028000" cy="1440000"/>
            <a:chOff x="-2349834" y="3799136"/>
            <a:chExt cx="8028000" cy="1440000"/>
          </a:xfrm>
        </p:grpSpPr>
        <p:sp>
          <p:nvSpPr>
            <p:cNvPr id="118" name="Téglalap: lekerekített 117">
              <a:extLst>
                <a:ext uri="{FF2B5EF4-FFF2-40B4-BE49-F238E27FC236}">
                  <a16:creationId xmlns:a16="http://schemas.microsoft.com/office/drawing/2014/main" id="{A71AC74A-AA6B-E59E-09E5-D95BA0BB6108}"/>
                </a:ext>
              </a:extLst>
            </p:cNvPr>
            <p:cNvSpPr>
              <a:spLocks/>
            </p:cNvSpPr>
            <p:nvPr/>
          </p:nvSpPr>
          <p:spPr>
            <a:xfrm>
              <a:off x="-2349834" y="3799136"/>
              <a:ext cx="8028000" cy="1440000"/>
            </a:xfrm>
            <a:prstGeom prst="roundRect">
              <a:avLst>
                <a:gd name="adj" fmla="val 50000"/>
              </a:avLst>
            </a:prstGeom>
            <a:solidFill>
              <a:schemeClr val="tx2">
                <a:lumMod val="75000"/>
                <a:lumOff val="25000"/>
              </a:schemeClr>
            </a:solidFill>
            <a:ln>
              <a:noFill/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pic>
          <p:nvPicPr>
            <p:cNvPr id="120" name="Kép 119">
              <a:extLst>
                <a:ext uri="{FF2B5EF4-FFF2-40B4-BE49-F238E27FC236}">
                  <a16:creationId xmlns:a16="http://schemas.microsoft.com/office/drawing/2014/main" id="{46B2C294-784D-1662-FC5B-146089D17F0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2206" y="4103164"/>
              <a:ext cx="857143" cy="800000"/>
            </a:xfrm>
            <a:prstGeom prst="rect">
              <a:avLst/>
            </a:prstGeom>
            <a:ln>
              <a:noFill/>
            </a:ln>
          </p:spPr>
        </p:pic>
        <p:sp>
          <p:nvSpPr>
            <p:cNvPr id="119" name="Ellipszis 118">
              <a:extLst>
                <a:ext uri="{FF2B5EF4-FFF2-40B4-BE49-F238E27FC236}">
                  <a16:creationId xmlns:a16="http://schemas.microsoft.com/office/drawing/2014/main" id="{A14093BE-8723-DF59-177F-A0C6D0A871F7}"/>
                </a:ext>
              </a:extLst>
            </p:cNvPr>
            <p:cNvSpPr/>
            <p:nvPr/>
          </p:nvSpPr>
          <p:spPr>
            <a:xfrm>
              <a:off x="4393866" y="3936653"/>
              <a:ext cx="1162050" cy="116205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hu-HU" sz="9600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3</a:t>
              </a:r>
            </a:p>
          </p:txBody>
        </p:sp>
        <p:sp>
          <p:nvSpPr>
            <p:cNvPr id="121" name="Téglalap 120">
              <a:extLst>
                <a:ext uri="{FF2B5EF4-FFF2-40B4-BE49-F238E27FC236}">
                  <a16:creationId xmlns:a16="http://schemas.microsoft.com/office/drawing/2014/main" id="{13872B29-82D6-AEB0-0D3C-456AB9369006}"/>
                </a:ext>
              </a:extLst>
            </p:cNvPr>
            <p:cNvSpPr/>
            <p:nvPr/>
          </p:nvSpPr>
          <p:spPr>
            <a:xfrm>
              <a:off x="1028614" y="3999164"/>
              <a:ext cx="50400" cy="100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122" name="Szövegdoboz 121">
              <a:extLst>
                <a:ext uri="{FF2B5EF4-FFF2-40B4-BE49-F238E27FC236}">
                  <a16:creationId xmlns:a16="http://schemas.microsoft.com/office/drawing/2014/main" id="{9ADAC405-91E3-2652-C8F9-11A416F278CE}"/>
                </a:ext>
              </a:extLst>
            </p:cNvPr>
            <p:cNvSpPr txBox="1"/>
            <p:nvPr/>
          </p:nvSpPr>
          <p:spPr>
            <a:xfrm>
              <a:off x="1095181" y="3996272"/>
              <a:ext cx="4207950" cy="9848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sz="2900" dirty="0">
                  <a:solidFill>
                    <a:schemeClr val="bg1"/>
                  </a:solidFill>
                  <a:latin typeface="Open sans" panose="020F0502020204030204" pitchFamily="2" charset="0"/>
                  <a:ea typeface="Open sans" panose="020F0502020204030204" pitchFamily="2" charset="0"/>
                  <a:cs typeface="Open sans" panose="020F0502020204030204" pitchFamily="2" charset="0"/>
                </a:rPr>
                <a:t>Ismerd</a:t>
              </a:r>
            </a:p>
            <a:p>
              <a:r>
                <a:rPr lang="hu-HU" sz="2900" dirty="0">
                  <a:solidFill>
                    <a:schemeClr val="bg1"/>
                  </a:solidFill>
                  <a:latin typeface="Open sans" panose="020F0502020204030204" pitchFamily="2" charset="0"/>
                  <a:ea typeface="Open sans" panose="020F0502020204030204" pitchFamily="2" charset="0"/>
                  <a:cs typeface="Open sans" panose="020F0502020204030204" pitchFamily="2" charset="0"/>
                </a:rPr>
                <a:t> </a:t>
              </a:r>
              <a:r>
                <a:rPr lang="hu-HU" dirty="0">
                  <a:solidFill>
                    <a:schemeClr val="bg1"/>
                  </a:solidFill>
                  <a:latin typeface="Open sans" panose="020F0502020204030204" pitchFamily="2" charset="0"/>
                  <a:ea typeface="Open sans" panose="020F0502020204030204" pitchFamily="2" charset="0"/>
                  <a:cs typeface="Open sans" panose="020F0502020204030204" pitchFamily="2" charset="0"/>
                </a:rPr>
                <a:t>meg a napvédőket!</a:t>
              </a:r>
              <a:endParaRPr lang="hu-HU" sz="15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34" name="4">
            <a:extLst>
              <a:ext uri="{FF2B5EF4-FFF2-40B4-BE49-F238E27FC236}">
                <a16:creationId xmlns:a16="http://schemas.microsoft.com/office/drawing/2014/main" id="{5186D431-814F-CFF6-9813-124B41D7E1F8}"/>
              </a:ext>
            </a:extLst>
          </p:cNvPr>
          <p:cNvGrpSpPr/>
          <p:nvPr/>
        </p:nvGrpSpPr>
        <p:grpSpPr>
          <a:xfrm>
            <a:off x="-907151" y="5235786"/>
            <a:ext cx="8028000" cy="1440000"/>
            <a:chOff x="-907151" y="5235786"/>
            <a:chExt cx="8028000" cy="1440000"/>
          </a:xfrm>
        </p:grpSpPr>
        <p:sp>
          <p:nvSpPr>
            <p:cNvPr id="112" name="Téglalap: lekerekített 111">
              <a:extLst>
                <a:ext uri="{FF2B5EF4-FFF2-40B4-BE49-F238E27FC236}">
                  <a16:creationId xmlns:a16="http://schemas.microsoft.com/office/drawing/2014/main" id="{2B7DCBFA-7A24-BBAF-AB10-30B3D438122A}"/>
                </a:ext>
              </a:extLst>
            </p:cNvPr>
            <p:cNvSpPr>
              <a:spLocks/>
            </p:cNvSpPr>
            <p:nvPr/>
          </p:nvSpPr>
          <p:spPr>
            <a:xfrm>
              <a:off x="-907151" y="5235786"/>
              <a:ext cx="8028000" cy="1440000"/>
            </a:xfrm>
            <a:prstGeom prst="roundRect">
              <a:avLst>
                <a:gd name="adj" fmla="val 50000"/>
              </a:avLst>
            </a:prstGeom>
            <a:solidFill>
              <a:schemeClr val="tx2">
                <a:lumMod val="90000"/>
                <a:lumOff val="10000"/>
              </a:schemeClr>
            </a:solidFill>
            <a:ln>
              <a:noFill/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113" name="Ellipszis 112">
              <a:extLst>
                <a:ext uri="{FF2B5EF4-FFF2-40B4-BE49-F238E27FC236}">
                  <a16:creationId xmlns:a16="http://schemas.microsoft.com/office/drawing/2014/main" id="{84B5AE72-AA02-59DA-5A4C-959F1B2C2C8A}"/>
                </a:ext>
              </a:extLst>
            </p:cNvPr>
            <p:cNvSpPr/>
            <p:nvPr/>
          </p:nvSpPr>
          <p:spPr>
            <a:xfrm>
              <a:off x="5836549" y="5373303"/>
              <a:ext cx="1162050" cy="116205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hu-HU" sz="9600" dirty="0">
                  <a:solidFill>
                    <a:schemeClr val="tx2">
                      <a:lumMod val="90000"/>
                      <a:lumOff val="10000"/>
                    </a:schemeClr>
                  </a:solidFill>
                </a:rPr>
                <a:t>4</a:t>
              </a:r>
            </a:p>
          </p:txBody>
        </p:sp>
        <p:pic>
          <p:nvPicPr>
            <p:cNvPr id="114" name="Kép 113">
              <a:extLst>
                <a:ext uri="{FF2B5EF4-FFF2-40B4-BE49-F238E27FC236}">
                  <a16:creationId xmlns:a16="http://schemas.microsoft.com/office/drawing/2014/main" id="{7C651BD5-A466-92A9-BE1F-FF3C952FDCD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974" y="5554328"/>
              <a:ext cx="857143" cy="800000"/>
            </a:xfrm>
            <a:prstGeom prst="rect">
              <a:avLst/>
            </a:prstGeom>
            <a:ln>
              <a:noFill/>
            </a:ln>
          </p:spPr>
        </p:pic>
        <p:sp>
          <p:nvSpPr>
            <p:cNvPr id="115" name="Téglalap 114">
              <a:extLst>
                <a:ext uri="{FF2B5EF4-FFF2-40B4-BE49-F238E27FC236}">
                  <a16:creationId xmlns:a16="http://schemas.microsoft.com/office/drawing/2014/main" id="{60781191-C27D-84C8-E838-EA37186C6778}"/>
                </a:ext>
              </a:extLst>
            </p:cNvPr>
            <p:cNvSpPr/>
            <p:nvPr/>
          </p:nvSpPr>
          <p:spPr>
            <a:xfrm>
              <a:off x="1034382" y="5450328"/>
              <a:ext cx="50400" cy="100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116" name="Szövegdoboz 115">
              <a:extLst>
                <a:ext uri="{FF2B5EF4-FFF2-40B4-BE49-F238E27FC236}">
                  <a16:creationId xmlns:a16="http://schemas.microsoft.com/office/drawing/2014/main" id="{DCFBCBD4-23F6-66F4-99AB-C583C8A05E61}"/>
                </a:ext>
              </a:extLst>
            </p:cNvPr>
            <p:cNvSpPr txBox="1"/>
            <p:nvPr/>
          </p:nvSpPr>
          <p:spPr>
            <a:xfrm>
              <a:off x="1112867" y="5408024"/>
              <a:ext cx="3634925" cy="10926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sz="2900" dirty="0">
                  <a:solidFill>
                    <a:schemeClr val="bg1"/>
                  </a:solidFill>
                  <a:latin typeface="Open sans" panose="020F0502020204030204" pitchFamily="2" charset="0"/>
                  <a:ea typeface="Open sans" panose="020F0502020204030204" pitchFamily="2" charset="0"/>
                  <a:cs typeface="Open sans" panose="020F0502020204030204" pitchFamily="2" charset="0"/>
                </a:rPr>
                <a:t>Védd</a:t>
              </a:r>
            </a:p>
            <a:p>
              <a:r>
                <a:rPr lang="hu-HU" dirty="0">
                  <a:solidFill>
                    <a:schemeClr val="bg1"/>
                  </a:solidFill>
                  <a:latin typeface="Open sans" panose="020F0502020204030204" pitchFamily="2" charset="0"/>
                  <a:ea typeface="Open sans" panose="020F0502020204030204" pitchFamily="2" charset="0"/>
                  <a:cs typeface="Open sans" panose="020F0502020204030204" pitchFamily="2" charset="0"/>
                </a:rPr>
                <a:t>a gyermekeket a közvetlen napsugárzás ellen!</a:t>
              </a:r>
              <a:endParaRPr lang="hu-HU" sz="1500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71184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0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0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20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20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20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20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37</Words>
  <Application>Microsoft Office PowerPoint</Application>
  <PresentationFormat>Szélesvásznú</PresentationFormat>
  <Paragraphs>13</Paragraphs>
  <Slides>1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Open Sans</vt:lpstr>
      <vt:lpstr>Office-téma</vt:lpstr>
      <vt:lpstr>A napozás aranyszabályai  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O365 felhasználó</dc:creator>
  <cp:lastModifiedBy>O365 felhasználó</cp:lastModifiedBy>
  <cp:revision>3</cp:revision>
  <dcterms:created xsi:type="dcterms:W3CDTF">2026-09-17T19:20:33Z</dcterms:created>
  <dcterms:modified xsi:type="dcterms:W3CDTF">2026-09-17T20:25:21Z</dcterms:modified>
</cp:coreProperties>
</file>