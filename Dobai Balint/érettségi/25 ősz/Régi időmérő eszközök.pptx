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239625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B067F-670D-44EB-AE9D-0E8830F386C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68338" y="1143000"/>
            <a:ext cx="5521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C5D77-C04C-4486-A440-36B1BB95BB9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159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668338" y="1143000"/>
            <a:ext cx="5521325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C5D77-C04C-4486-A440-36B1BB95BB91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8002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EBFB-1F88-2C54-0AAA-54D75146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2FE232D-DB87-1A53-A6A4-7B6021178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8338" y="1143000"/>
            <a:ext cx="5521325" cy="3086100"/>
          </a:xfrm>
        </p:spPr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9D77189-785C-9FBF-3933-575D4E886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víz a tölcsérbe (1) jut, és átmegy a hengerbe, amelyben az úszó (2) felemelkedik. Ez egy fogasléchez van csatlakoztatva, amely az óramutatót működteti. A víz áramlási sebességét a beosztásos dugó (3) szabályozza.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9EA3152-AE35-CDE3-4981-60032EBCE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C5D77-C04C-4486-A440-36B1BB95BB91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3239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DCF2-D31D-0226-5906-20C6D31E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EBC33B4-240B-C54A-8419-BB3C9A2BD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8338" y="1143000"/>
            <a:ext cx="5521325" cy="3086100"/>
          </a:xfrm>
        </p:spPr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E92285E-812C-0987-27D6-9B8F8EF8F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F04A576-8C03-F608-8E16-A41291663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C5D77-C04C-4486-A440-36B1BB95BB91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6691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9BA7-A5B7-17B4-3AA4-079B0B64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88B3ADF-05C1-0F83-7B61-2022FC4F0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8338" y="1143000"/>
            <a:ext cx="5521325" cy="3086100"/>
          </a:xfrm>
        </p:spPr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20D8D08-AB46-C248-4B53-B043FB835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765DD26-7117-1772-8CA8-79442343E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C5D77-C04C-4486-A440-36B1BB95BB91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0654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1197-B7FD-59A9-43F1-C7F0075A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B0E8B954-7B15-1641-B15C-8B31DA8A0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8338" y="1143000"/>
            <a:ext cx="5521325" cy="3086100"/>
          </a:xfrm>
        </p:spPr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F66474B-B824-45F6-58FA-CCE37481C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612383E-7254-A796-6F7F-FACCF5233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C5D77-C04C-4486-A440-36B1BB95BB91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2440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19505"/>
            <a:ext cx="9179719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592866"/>
            <a:ext cx="9179719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675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048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05385"/>
            <a:ext cx="10556677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577778"/>
            <a:ext cx="10556677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82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82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694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291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64196"/>
            <a:ext cx="10556677" cy="132218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676882"/>
            <a:ext cx="51779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498697"/>
            <a:ext cx="51779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676882"/>
            <a:ext cx="52034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498697"/>
            <a:ext cx="52034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5392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5714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492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984911"/>
            <a:ext cx="6196310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309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984911"/>
            <a:ext cx="6196310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571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0551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64195"/>
            <a:ext cx="2639169" cy="579704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64195"/>
            <a:ext cx="7764512" cy="579704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053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364196"/>
            <a:ext cx="10556677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820976"/>
            <a:ext cx="10556677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492C1-B094-4BE8-946C-C8B938682020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340166"/>
            <a:ext cx="413087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0235E-C251-4401-BE95-557DDC4658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240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2A867A-B5C5-380A-F891-39B11AC8C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6731" y="5671232"/>
            <a:ext cx="10046162" cy="1169306"/>
          </a:xfrm>
        </p:spPr>
        <p:txBody>
          <a:bodyPr>
            <a:noAutofit/>
          </a:bodyPr>
          <a:lstStyle/>
          <a:p>
            <a:r>
              <a:rPr lang="hu-HU" sz="80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Podkova"/>
              </a:rPr>
              <a:t>Régi időmérő eszközök</a:t>
            </a:r>
          </a:p>
        </p:txBody>
      </p:sp>
    </p:spTree>
    <p:extLst>
      <p:ext uri="{BB962C8B-B14F-4D97-AF65-F5344CB8AC3E}">
        <p14:creationId xmlns:p14="http://schemas.microsoft.com/office/powerpoint/2010/main" val="4278570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60B61-F610-9667-7DAC-0B03E5C61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D7A708-FEB2-A465-BC7A-6B86B7A00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992" y="443060"/>
            <a:ext cx="5129004" cy="1068911"/>
          </a:xfrm>
        </p:spPr>
        <p:txBody>
          <a:bodyPr>
            <a:normAutofit/>
          </a:bodyPr>
          <a:lstStyle/>
          <a:p>
            <a:r>
              <a:rPr lang="hu-HU" sz="4900" dirty="0"/>
              <a:t>Napóra (árnyékóra)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3C6672D-D2E6-A462-6369-F3297717CE58}"/>
              </a:ext>
            </a:extLst>
          </p:cNvPr>
          <p:cNvSpPr txBox="1"/>
          <p:nvPr/>
        </p:nvSpPr>
        <p:spPr>
          <a:xfrm>
            <a:off x="988992" y="1626934"/>
            <a:ext cx="501328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Kr. e. 5. évezred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A legpontosabb eszköz még a középkorban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A helyi időt mutatja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Részei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500" dirty="0"/>
              <a:t>árnyékvető (gnómon)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500" dirty="0"/>
              <a:t>számlap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Típusai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500" dirty="0"/>
              <a:t>rögzített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500" dirty="0"/>
              <a:t>hordozható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DC9AA446-7E0E-6A2A-C82B-A0A9BB0E0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0" r="-9891"/>
          <a:stretch>
            <a:fillRect/>
          </a:stretch>
        </p:blipFill>
        <p:spPr>
          <a:xfrm>
            <a:off x="6621864" y="1440269"/>
            <a:ext cx="5293245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3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5BAF0-7A9A-E38F-AD60-4783BDF05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32D88E-DA32-78C4-029A-20341D70E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992" y="443060"/>
            <a:ext cx="5129004" cy="1068911"/>
          </a:xfrm>
        </p:spPr>
        <p:txBody>
          <a:bodyPr>
            <a:normAutofit/>
          </a:bodyPr>
          <a:lstStyle/>
          <a:p>
            <a:r>
              <a:rPr lang="hu-HU" sz="4900" dirty="0"/>
              <a:t>Vízóra (</a:t>
            </a:r>
            <a:r>
              <a:rPr lang="hu-HU" sz="4900" dirty="0" err="1"/>
              <a:t>klepszüdra</a:t>
            </a:r>
            <a:r>
              <a:rPr lang="hu-HU" sz="4900" dirty="0"/>
              <a:t>)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EAE33528-8819-2113-7DD6-E768E16F829F}"/>
              </a:ext>
            </a:extLst>
          </p:cNvPr>
          <p:cNvSpPr txBox="1"/>
          <p:nvPr/>
        </p:nvSpPr>
        <p:spPr>
          <a:xfrm>
            <a:off x="988992" y="1948294"/>
            <a:ext cx="611799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Mezopotámia, Egyiptom, Távol-Kelet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A víz átcsöpög a másik edénybe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Tölcsér alak: egyenletesen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Ókori Görögország: beszédek hossza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Galilei: kísérleteihez időméréshez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CBC1565-E946-6A52-2824-E23E0934E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790" y="1200851"/>
            <a:ext cx="2880000" cy="443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3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E51A-D2B7-DCE6-24BB-3E260643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249A15-4110-392C-6FAC-8A5B165C8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992" y="443060"/>
            <a:ext cx="5129004" cy="1068911"/>
          </a:xfrm>
        </p:spPr>
        <p:txBody>
          <a:bodyPr>
            <a:normAutofit/>
          </a:bodyPr>
          <a:lstStyle/>
          <a:p>
            <a:r>
              <a:rPr lang="hu-HU" sz="4900" dirty="0"/>
              <a:t>Gyertyaóra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9C0CB60-12D1-76DE-A744-1CDE9BF3D879}"/>
              </a:ext>
            </a:extLst>
          </p:cNvPr>
          <p:cNvSpPr txBox="1"/>
          <p:nvPr/>
        </p:nvSpPr>
        <p:spPr>
          <a:xfrm>
            <a:off x="988992" y="1604387"/>
            <a:ext cx="6117996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Kb. 900 éve terjedt 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A gyertya egyenletesen fogy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Beosztás a gyertyán vagy a gyertya mögött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Időzítés: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500" dirty="0"/>
              <a:t>szeg a megfelelő osztásnál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500" dirty="0"/>
              <a:t>amikor odáig leég, a szeg fémtálkába esik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2E8E44E-4384-B836-0B20-A3BE7E614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277" y="1259998"/>
            <a:ext cx="3240405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68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7D42-A246-AFF6-CC33-721053026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0C22EC-3A94-2EE0-E756-D0B9F25DA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992" y="443060"/>
            <a:ext cx="5129004" cy="1068911"/>
          </a:xfrm>
        </p:spPr>
        <p:txBody>
          <a:bodyPr>
            <a:normAutofit/>
          </a:bodyPr>
          <a:lstStyle/>
          <a:p>
            <a:r>
              <a:rPr lang="hu-HU" sz="4900" dirty="0"/>
              <a:t>Homokóra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55C654C-8D8A-E3D2-C82C-E5CF395A5EA0}"/>
              </a:ext>
            </a:extLst>
          </p:cNvPr>
          <p:cNvSpPr txBox="1"/>
          <p:nvPr/>
        </p:nvSpPr>
        <p:spPr>
          <a:xfrm>
            <a:off x="988992" y="1942941"/>
            <a:ext cx="611799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Első feljegyzés: XIV. század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Két vékony csővel összekötött edény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A felső tartályból homok pereg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Időtartamot mér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100" dirty="0"/>
              <a:t>Újraindítás: megfordítják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33FDC69-18F3-FCB3-7BF2-5DA0DBE6DE57}"/>
              </a:ext>
            </a:extLst>
          </p:cNvPr>
          <p:cNvSpPr txBox="1"/>
          <p:nvPr/>
        </p:nvSpPr>
        <p:spPr>
          <a:xfrm>
            <a:off x="1085850" y="5438775"/>
            <a:ext cx="541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világ legnagyobb homokóráját, a Világórát hazánk EU-s csatlakozása alkalmából Budapesten adták át.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146DC95-8B91-AE80-2340-C9DEF9D04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320" y="1511971"/>
            <a:ext cx="1960880" cy="4318000"/>
          </a:xfrm>
          <a:prstGeom prst="rect">
            <a:avLst/>
          </a:prstGeom>
        </p:spPr>
      </p:pic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D3241670-C3C2-9C54-FCF9-D6A09B5241EA}"/>
              </a:ext>
            </a:extLst>
          </p:cNvPr>
          <p:cNvCxnSpPr>
            <a:cxnSpLocks/>
          </p:cNvCxnSpPr>
          <p:nvPr/>
        </p:nvCxnSpPr>
        <p:spPr>
          <a:xfrm flipV="1">
            <a:off x="8315325" y="2410878"/>
            <a:ext cx="1771650" cy="77999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62793A55-D2BF-3FF8-E485-198A7DA29E1D}"/>
              </a:ext>
            </a:extLst>
          </p:cNvPr>
          <p:cNvCxnSpPr>
            <a:cxnSpLocks/>
          </p:cNvCxnSpPr>
          <p:nvPr/>
        </p:nvCxnSpPr>
        <p:spPr>
          <a:xfrm flipV="1">
            <a:off x="8227924" y="3501503"/>
            <a:ext cx="1859051" cy="14816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01B22ACA-394E-76C4-AB17-3130919AE982}"/>
              </a:ext>
            </a:extLst>
          </p:cNvPr>
          <p:cNvCxnSpPr>
            <a:cxnSpLocks/>
          </p:cNvCxnSpPr>
          <p:nvPr/>
        </p:nvCxnSpPr>
        <p:spPr>
          <a:xfrm>
            <a:off x="8597723" y="4314366"/>
            <a:ext cx="1489252" cy="4100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A7DD64E5-6B54-AD6F-F818-777BFF4DBB0C}"/>
              </a:ext>
            </a:extLst>
          </p:cNvPr>
          <p:cNvCxnSpPr>
            <a:cxnSpLocks/>
          </p:cNvCxnSpPr>
          <p:nvPr/>
        </p:nvCxnSpPr>
        <p:spPr>
          <a:xfrm>
            <a:off x="8473898" y="5432971"/>
            <a:ext cx="1613077" cy="5274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0C26B687-52B2-B063-5F8B-A4127474925E}"/>
              </a:ext>
            </a:extLst>
          </p:cNvPr>
          <p:cNvSpPr txBox="1"/>
          <p:nvPr/>
        </p:nvSpPr>
        <p:spPr>
          <a:xfrm>
            <a:off x="10086975" y="3316837"/>
            <a:ext cx="176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nyílás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5E5E8C82-F611-9BC8-6BAE-ADB7C0DB0D56}"/>
              </a:ext>
            </a:extLst>
          </p:cNvPr>
          <p:cNvSpPr txBox="1"/>
          <p:nvPr/>
        </p:nvSpPr>
        <p:spPr>
          <a:xfrm>
            <a:off x="10086974" y="4555151"/>
            <a:ext cx="176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üvegtartály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5F57F47-E87F-5F04-4A46-13FB32612B01}"/>
              </a:ext>
            </a:extLst>
          </p:cNvPr>
          <p:cNvSpPr txBox="1"/>
          <p:nvPr/>
        </p:nvSpPr>
        <p:spPr>
          <a:xfrm>
            <a:off x="10086974" y="5780247"/>
            <a:ext cx="176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tartószerkezet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F5D7DDCA-DD43-7253-B846-B794E3478A65}"/>
              </a:ext>
            </a:extLst>
          </p:cNvPr>
          <p:cNvSpPr txBox="1"/>
          <p:nvPr/>
        </p:nvSpPr>
        <p:spPr>
          <a:xfrm>
            <a:off x="10086975" y="2226212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Száraz homok</a:t>
            </a:r>
          </a:p>
        </p:txBody>
      </p:sp>
    </p:spTree>
    <p:extLst>
      <p:ext uri="{BB962C8B-B14F-4D97-AF65-F5344CB8AC3E}">
        <p14:creationId xmlns:p14="http://schemas.microsoft.com/office/powerpoint/2010/main" val="152340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186</Words>
  <Application>Microsoft Office PowerPoint</Application>
  <PresentationFormat>Egyéni</PresentationFormat>
  <Paragraphs>41</Paragraphs>
  <Slides>5</Slides>
  <Notes>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Podkova</vt:lpstr>
      <vt:lpstr>Office-téma</vt:lpstr>
      <vt:lpstr>Régi időmérő eszközök</vt:lpstr>
      <vt:lpstr>Napóra (árnyékóra)</vt:lpstr>
      <vt:lpstr>Vízóra (klepszüdra)</vt:lpstr>
      <vt:lpstr>Gyertyaóra</vt:lpstr>
      <vt:lpstr>Homokóra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</cp:revision>
  <dcterms:created xsi:type="dcterms:W3CDTF">2026-09-06T18:30:52Z</dcterms:created>
  <dcterms:modified xsi:type="dcterms:W3CDTF">2026-09-06T19:05:18Z</dcterms:modified>
</cp:coreProperties>
</file>