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3" r:id="rId3"/>
    <p:sldId id="265" r:id="rId4"/>
    <p:sldId id="266" r:id="rId5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108"/>
      </p:cViewPr>
      <p:guideLst/>
    </p:cSldViewPr>
  </p:slideViewPr>
  <p:notesTextViewPr>
    <p:cViewPr>
      <p:scale>
        <a:sx n="3" d="2"/>
        <a:sy n="3" d="2"/>
      </p:scale>
      <p:origin x="-6" y="-18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EF45D8-AF51-41CE-9FC3-EEF7B29D1481}" type="datetimeFigureOut">
              <a:rPr lang="hu-HU" smtClean="0"/>
              <a:t>2026. 10. 09.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7ACC18-4FD7-4370-9FFE-F6CC4D2AEFF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15742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2C82EE3-DDD1-1272-D304-17E516264F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3D33080F-C01C-6B8B-0B36-D138D34C2D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CFFCB5F8-B253-8957-36DB-CC9F6E526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649D-2816-4F3C-856F-C8DBB97F0D23}" type="datetimeFigureOut">
              <a:rPr lang="hu-HU" smtClean="0"/>
              <a:t>2026. 10. 09.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BF26E644-FEC6-6594-84CA-0508106FF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CA062182-9F26-A3A4-A27B-4D865093A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68A75-8FBB-4AD5-B590-75A84BBFA8B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62823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1795AB5-0B8D-237E-08E0-5BA7C2C15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53C9869-1FA4-6805-40DA-9328BB157D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FEFA1470-C0E2-EC55-6216-44B657EFD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649D-2816-4F3C-856F-C8DBB97F0D23}" type="datetimeFigureOut">
              <a:rPr lang="hu-HU" smtClean="0"/>
              <a:t>2026. 10. 09.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BEFE3210-AEC2-87C6-79F0-AD16A4A6B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0D27701D-E6B5-56A4-47A1-B4EF66753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68A75-8FBB-4AD5-B590-75A84BBFA8B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03507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E02D6C2-5623-CB7F-57E1-19A072099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01430FED-936D-DEE6-ABF4-DF819C8E4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74937F0F-5820-C15F-08D8-6FE0E7B3B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649D-2816-4F3C-856F-C8DBB97F0D23}" type="datetimeFigureOut">
              <a:rPr lang="hu-HU" smtClean="0"/>
              <a:t>2026. 10. 09.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36729D78-4D66-4634-90D6-80123310E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0931CC14-9008-D592-38F1-C9C111A73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68A75-8FBB-4AD5-B590-75A84BBFA8B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25718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CB126C5-E407-BFEA-2EB7-F101CA507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FE63369-8BCD-0B67-BA38-E163EB00DD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69AFA9BA-9489-98F7-3D50-A446827185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FF193C7C-4514-2E3A-F8C2-B33F495D4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649D-2816-4F3C-856F-C8DBB97F0D23}" type="datetimeFigureOut">
              <a:rPr lang="hu-HU" smtClean="0"/>
              <a:t>2026. 10. 09.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58006029-8926-3F28-0768-3374969A6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5E39EEEA-F5D9-4BDE-82B1-2C9B1B86F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68A75-8FBB-4AD5-B590-75A84BBFA8B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48977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AC9B16A-74B7-C30B-6308-623C3E429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909F2853-9580-998D-8816-58A8F6B75F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638587C5-4EC3-E5A4-D706-715103C2FF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6E092E94-C36C-8398-86DB-80281E8C6F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31EDB218-28A7-9340-1B16-960644729B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F9D10E6A-705F-E26E-ADA1-AC6938C38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649D-2816-4F3C-856F-C8DBB97F0D23}" type="datetimeFigureOut">
              <a:rPr lang="hu-HU" smtClean="0"/>
              <a:t>2026. 10. 09.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57D7E0B0-0BC1-CEFE-034E-DD6AA6E7F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636841CA-D9E8-8A03-D9CF-F484EFBE7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68A75-8FBB-4AD5-B590-75A84BBFA8B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0977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FA034A3-899E-6176-5863-E6CDC0321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0537AF3B-E92C-44A3-FAAB-FFCEA6084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649D-2816-4F3C-856F-C8DBB97F0D23}" type="datetimeFigureOut">
              <a:rPr lang="hu-HU" smtClean="0"/>
              <a:t>2026. 10. 09.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953A75D2-F9CF-5004-EF99-ECD63E6F9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2D475FE2-1842-04AC-A9D3-EE93D8826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68A75-8FBB-4AD5-B590-75A84BBFA8B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888726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E315C458-0D59-A228-004F-1D4685313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649D-2816-4F3C-856F-C8DBB97F0D23}" type="datetimeFigureOut">
              <a:rPr lang="hu-HU" smtClean="0"/>
              <a:t>2026. 10. 09.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572F8762-D9C4-DC71-12E0-D5B1639E5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0E1E450D-95CF-A9DE-5899-1620C4B4C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68A75-8FBB-4AD5-B590-75A84BBFA8B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072427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487030A-0189-B7EF-BE64-2C971D23B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C10F3F7-87EB-9FF6-76DC-95D5586159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1E9F115C-E56C-B5B6-FB23-97A4B63A85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44711ED9-0D0D-A0F5-144F-C27B1003A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649D-2816-4F3C-856F-C8DBB97F0D23}" type="datetimeFigureOut">
              <a:rPr lang="hu-HU" smtClean="0"/>
              <a:t>2026. 10. 09.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97361548-1846-38EF-6DD5-A12C7E9DC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44D6643B-6296-5660-AA88-867844524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68A75-8FBB-4AD5-B590-75A84BBFA8B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631290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8591C0A-1949-691A-0244-B7AB2BF43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B62118BB-583D-08FF-6CB2-71AE97C27406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B76CFB06-E4CD-F4E0-BB80-8E570D1A70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B1E5CE44-F978-C063-3C14-34574073C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649D-2816-4F3C-856F-C8DBB97F0D23}" type="datetimeFigureOut">
              <a:rPr lang="hu-HU" smtClean="0"/>
              <a:t>2026. 10. 09.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B35C4949-5028-9986-96E5-FA2F90DA1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BF4361C6-6CB6-96DC-53CC-E478A2E97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68A75-8FBB-4AD5-B590-75A84BBFA8B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378276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1A97E87-E446-6B4F-87A5-6EB2EEAAF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7EFF6BBD-9050-C012-D946-F1B98046BA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5DA1920-9B5E-28DC-C437-1159CE1B1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649D-2816-4F3C-856F-C8DBB97F0D23}" type="datetimeFigureOut">
              <a:rPr lang="hu-HU" smtClean="0"/>
              <a:t>2026. 10. 09.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DFD0C5C2-DB50-F90E-3E42-5D79FB886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8357023F-75E5-9C29-E81F-BE77449C0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68A75-8FBB-4AD5-B590-75A84BBFA8B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839006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A908EDDF-F7D2-B1B5-99FF-F31614EF86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16C95192-E96E-86C4-6F07-68087E5216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3D7C1AD6-06AF-A876-39CA-C99B579A2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649D-2816-4F3C-856F-C8DBB97F0D23}" type="datetimeFigureOut">
              <a:rPr lang="hu-HU" smtClean="0"/>
              <a:t>2026. 10. 09.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44D3F61F-3CEC-56F3-D58A-6649C1295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E34682BE-B597-CB3A-B757-6A9B3C6FD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68A75-8FBB-4AD5-B590-75A84BBFA8B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92627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15C40DED-C898-AFE3-AC5E-B0BD205D2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DFFBB120-C862-E156-EF8C-4961B3A6EE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563F673E-8CAD-0EC9-7A93-51921566A5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53649D-2816-4F3C-856F-C8DBB97F0D23}" type="datetimeFigureOut">
              <a:rPr lang="hu-HU" smtClean="0"/>
              <a:t>2026. 10. 09.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56CB8205-C143-7EC1-E0F4-442B533EA5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F6B4E9BF-363A-AF22-D006-75D4C9985B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068A75-8FBB-4AD5-B590-75A84BBFA8B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640876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ACB828F-1CC9-17E7-18ED-7A2D752F2B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075" y="428624"/>
            <a:ext cx="6553200" cy="1609725"/>
          </a:xfrm>
        </p:spPr>
        <p:txBody>
          <a:bodyPr>
            <a:noAutofit/>
          </a:bodyPr>
          <a:lstStyle/>
          <a:p>
            <a:r>
              <a:rPr lang="hu-HU" sz="96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Vitorlázás</a:t>
            </a:r>
          </a:p>
        </p:txBody>
      </p:sp>
    </p:spTree>
    <p:extLst>
      <p:ext uri="{BB962C8B-B14F-4D97-AF65-F5344CB8AC3E}">
        <p14:creationId xmlns:p14="http://schemas.microsoft.com/office/powerpoint/2010/main" val="36955335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E69518-E495-0EF0-7EE9-10B08E125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2E0E1BF-F33F-BD60-F41A-8C7A0614DC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6225" y="85725"/>
            <a:ext cx="3943350" cy="1519238"/>
          </a:xfrm>
        </p:spPr>
        <p:txBody>
          <a:bodyPr>
            <a:normAutofit/>
          </a:bodyPr>
          <a:lstStyle/>
          <a:p>
            <a:r>
              <a:rPr lang="hu-HU" sz="72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Szélkör</a:t>
            </a: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BCEB86CF-670C-24D3-C5BD-DAFB45B25285}"/>
              </a:ext>
            </a:extLst>
          </p:cNvPr>
          <p:cNvSpPr txBox="1"/>
          <p:nvPr/>
        </p:nvSpPr>
        <p:spPr>
          <a:xfrm>
            <a:off x="457200" y="2028825"/>
            <a:ext cx="4610100" cy="2677656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 rtlCol="0">
            <a:spAutoFit/>
          </a:bodyPr>
          <a:lstStyle/>
          <a:p>
            <a:r>
              <a:rPr lang="hu-HU" sz="2400" dirty="0"/>
              <a:t>Ha a hajónk a jobb oldala felől kapja a szelet, akkor jobbcsapáson haladunk, ha a bal oldal felől, akkor balcsapáson. Így az ismert</a:t>
            </a:r>
          </a:p>
          <a:p>
            <a:r>
              <a:rPr lang="hu-HU" sz="2400" dirty="0"/>
              <a:t>menetirányok a teljes 360°-ot lefedik, felrajzolhatjuk a szélkört.</a:t>
            </a:r>
          </a:p>
        </p:txBody>
      </p:sp>
      <p:sp>
        <p:nvSpPr>
          <p:cNvPr id="5" name="Ellipszis 4">
            <a:extLst>
              <a:ext uri="{FF2B5EF4-FFF2-40B4-BE49-F238E27FC236}">
                <a16:creationId xmlns:a16="http://schemas.microsoft.com/office/drawing/2014/main" id="{3C49B23D-B352-E453-7CD8-8410C31C7A46}"/>
              </a:ext>
            </a:extLst>
          </p:cNvPr>
          <p:cNvSpPr/>
          <p:nvPr/>
        </p:nvSpPr>
        <p:spPr>
          <a:xfrm>
            <a:off x="6096000" y="1629000"/>
            <a:ext cx="3600000" cy="360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" name="Körszelet 5">
            <a:extLst>
              <a:ext uri="{FF2B5EF4-FFF2-40B4-BE49-F238E27FC236}">
                <a16:creationId xmlns:a16="http://schemas.microsoft.com/office/drawing/2014/main" id="{DA778D9B-AAFB-6F33-FE41-185454F78487}"/>
              </a:ext>
            </a:extLst>
          </p:cNvPr>
          <p:cNvSpPr/>
          <p:nvPr/>
        </p:nvSpPr>
        <p:spPr>
          <a:xfrm rot="16200000" flipV="1">
            <a:off x="6888000" y="3959911"/>
            <a:ext cx="2016000" cy="342900"/>
          </a:xfrm>
          <a:prstGeom prst="chord">
            <a:avLst>
              <a:gd name="adj1" fmla="val 5156490"/>
              <a:gd name="adj2" fmla="val 16380772"/>
            </a:avLst>
          </a:prstGeom>
          <a:solidFill>
            <a:schemeClr val="bg2">
              <a:lumMod val="75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7" name="Körszelet 6">
            <a:extLst>
              <a:ext uri="{FF2B5EF4-FFF2-40B4-BE49-F238E27FC236}">
                <a16:creationId xmlns:a16="http://schemas.microsoft.com/office/drawing/2014/main" id="{A6AA1EE1-CAED-03F8-79D3-95D633F61813}"/>
              </a:ext>
            </a:extLst>
          </p:cNvPr>
          <p:cNvSpPr/>
          <p:nvPr/>
        </p:nvSpPr>
        <p:spPr>
          <a:xfrm rot="19074342" flipV="1">
            <a:off x="6357348" y="3732089"/>
            <a:ext cx="2016000" cy="342900"/>
          </a:xfrm>
          <a:prstGeom prst="chord">
            <a:avLst>
              <a:gd name="adj1" fmla="val 5156490"/>
              <a:gd name="adj2" fmla="val 16380772"/>
            </a:avLst>
          </a:prstGeom>
          <a:solidFill>
            <a:schemeClr val="bg2">
              <a:lumMod val="75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8" name="Körszelet 7">
            <a:extLst>
              <a:ext uri="{FF2B5EF4-FFF2-40B4-BE49-F238E27FC236}">
                <a16:creationId xmlns:a16="http://schemas.microsoft.com/office/drawing/2014/main" id="{E91F1777-062E-D9DB-DA46-8D0431754996}"/>
              </a:ext>
            </a:extLst>
          </p:cNvPr>
          <p:cNvSpPr/>
          <p:nvPr/>
        </p:nvSpPr>
        <p:spPr>
          <a:xfrm rot="13544025" flipV="1">
            <a:off x="7422606" y="3788680"/>
            <a:ext cx="2016000" cy="342900"/>
          </a:xfrm>
          <a:prstGeom prst="chord">
            <a:avLst>
              <a:gd name="adj1" fmla="val 5156490"/>
              <a:gd name="adj2" fmla="val 16380772"/>
            </a:avLst>
          </a:prstGeom>
          <a:solidFill>
            <a:schemeClr val="bg2">
              <a:lumMod val="75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Körszelet 8">
            <a:extLst>
              <a:ext uri="{FF2B5EF4-FFF2-40B4-BE49-F238E27FC236}">
                <a16:creationId xmlns:a16="http://schemas.microsoft.com/office/drawing/2014/main" id="{30ECB431-431E-1E4C-4C73-74B99995FD0E}"/>
              </a:ext>
            </a:extLst>
          </p:cNvPr>
          <p:cNvSpPr/>
          <p:nvPr/>
        </p:nvSpPr>
        <p:spPr>
          <a:xfrm flipV="1">
            <a:off x="6230870" y="3254464"/>
            <a:ext cx="2016000" cy="342900"/>
          </a:xfrm>
          <a:prstGeom prst="chord">
            <a:avLst>
              <a:gd name="adj1" fmla="val 5156490"/>
              <a:gd name="adj2" fmla="val 16380772"/>
            </a:avLst>
          </a:prstGeom>
          <a:solidFill>
            <a:schemeClr val="bg2">
              <a:lumMod val="75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" name="Körszelet 9">
            <a:extLst>
              <a:ext uri="{FF2B5EF4-FFF2-40B4-BE49-F238E27FC236}">
                <a16:creationId xmlns:a16="http://schemas.microsoft.com/office/drawing/2014/main" id="{631991F9-752E-3970-9093-3FBA2A01167F}"/>
              </a:ext>
            </a:extLst>
          </p:cNvPr>
          <p:cNvSpPr/>
          <p:nvPr/>
        </p:nvSpPr>
        <p:spPr>
          <a:xfrm rot="5400000" flipV="1">
            <a:off x="6842501" y="2521499"/>
            <a:ext cx="2016000" cy="342900"/>
          </a:xfrm>
          <a:prstGeom prst="chord">
            <a:avLst>
              <a:gd name="adj1" fmla="val 5156490"/>
              <a:gd name="adj2" fmla="val 16380772"/>
            </a:avLst>
          </a:prstGeom>
          <a:solidFill>
            <a:schemeClr val="bg2">
              <a:lumMod val="75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1" name="Körszelet 10">
            <a:extLst>
              <a:ext uri="{FF2B5EF4-FFF2-40B4-BE49-F238E27FC236}">
                <a16:creationId xmlns:a16="http://schemas.microsoft.com/office/drawing/2014/main" id="{BA0770E5-7003-2FDE-149D-FE000DCFEE6A}"/>
              </a:ext>
            </a:extLst>
          </p:cNvPr>
          <p:cNvSpPr/>
          <p:nvPr/>
        </p:nvSpPr>
        <p:spPr>
          <a:xfrm rot="10800000" flipV="1">
            <a:off x="7561721" y="3257049"/>
            <a:ext cx="2016000" cy="342900"/>
          </a:xfrm>
          <a:prstGeom prst="chord">
            <a:avLst>
              <a:gd name="adj1" fmla="val 5156490"/>
              <a:gd name="adj2" fmla="val 16380772"/>
            </a:avLst>
          </a:prstGeom>
          <a:solidFill>
            <a:schemeClr val="bg2">
              <a:lumMod val="75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2" name="Körszelet 11">
            <a:extLst>
              <a:ext uri="{FF2B5EF4-FFF2-40B4-BE49-F238E27FC236}">
                <a16:creationId xmlns:a16="http://schemas.microsoft.com/office/drawing/2014/main" id="{DF3A2394-3D33-3A89-EE8B-31E620CABC6E}"/>
              </a:ext>
            </a:extLst>
          </p:cNvPr>
          <p:cNvSpPr/>
          <p:nvPr/>
        </p:nvSpPr>
        <p:spPr>
          <a:xfrm rot="2970501" flipV="1">
            <a:off x="6346693" y="2809883"/>
            <a:ext cx="2016000" cy="342900"/>
          </a:xfrm>
          <a:prstGeom prst="chord">
            <a:avLst>
              <a:gd name="adj1" fmla="val 5156490"/>
              <a:gd name="adj2" fmla="val 16380772"/>
            </a:avLst>
          </a:prstGeom>
          <a:solidFill>
            <a:schemeClr val="bg2">
              <a:lumMod val="75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" name="Körszelet 12">
            <a:extLst>
              <a:ext uri="{FF2B5EF4-FFF2-40B4-BE49-F238E27FC236}">
                <a16:creationId xmlns:a16="http://schemas.microsoft.com/office/drawing/2014/main" id="{9DC1B761-CB50-1B89-450D-3B4DF333A5D3}"/>
              </a:ext>
            </a:extLst>
          </p:cNvPr>
          <p:cNvSpPr/>
          <p:nvPr/>
        </p:nvSpPr>
        <p:spPr>
          <a:xfrm rot="8040543" flipV="1">
            <a:off x="7375274" y="2788002"/>
            <a:ext cx="2016000" cy="342900"/>
          </a:xfrm>
          <a:prstGeom prst="chord">
            <a:avLst>
              <a:gd name="adj1" fmla="val 5156490"/>
              <a:gd name="adj2" fmla="val 16380772"/>
            </a:avLst>
          </a:prstGeom>
          <a:solidFill>
            <a:schemeClr val="bg2">
              <a:lumMod val="75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" name="Szövegdoboz 13">
            <a:extLst>
              <a:ext uri="{FF2B5EF4-FFF2-40B4-BE49-F238E27FC236}">
                <a16:creationId xmlns:a16="http://schemas.microsoft.com/office/drawing/2014/main" id="{2C334CF6-BDF0-FAB8-C084-CD824D307589}"/>
              </a:ext>
            </a:extLst>
          </p:cNvPr>
          <p:cNvSpPr txBox="1"/>
          <p:nvPr/>
        </p:nvSpPr>
        <p:spPr>
          <a:xfrm>
            <a:off x="9611838" y="1848661"/>
            <a:ext cx="2190750" cy="556378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 rtlCol="0">
            <a:spAutoFit/>
          </a:bodyPr>
          <a:lstStyle>
            <a:defPPr>
              <a:defRPr lang="hu-HU"/>
            </a:defPPr>
            <a:lvl1pPr>
              <a:defRPr sz="2400"/>
            </a:lvl1pPr>
          </a:lstStyle>
          <a:p>
            <a:r>
              <a:rPr lang="hu-H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Negyedszél</a:t>
            </a:r>
          </a:p>
        </p:txBody>
      </p:sp>
      <p:sp>
        <p:nvSpPr>
          <p:cNvPr id="15" name="Szövegdoboz 14">
            <a:extLst>
              <a:ext uri="{FF2B5EF4-FFF2-40B4-BE49-F238E27FC236}">
                <a16:creationId xmlns:a16="http://schemas.microsoft.com/office/drawing/2014/main" id="{874CE7D0-BF5C-6E6B-102A-00EE93985260}"/>
              </a:ext>
            </a:extLst>
          </p:cNvPr>
          <p:cNvSpPr txBox="1"/>
          <p:nvPr/>
        </p:nvSpPr>
        <p:spPr>
          <a:xfrm>
            <a:off x="9851449" y="3177525"/>
            <a:ext cx="2190750" cy="461665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 rtlCol="0">
            <a:spAutoFit/>
          </a:bodyPr>
          <a:lstStyle>
            <a:defPPr>
              <a:defRPr lang="hu-HU"/>
            </a:defPPr>
            <a:lvl1pPr>
              <a:defRPr sz="2400"/>
            </a:lvl1pPr>
          </a:lstStyle>
          <a:p>
            <a:r>
              <a:rPr lang="hu-H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Félszél</a:t>
            </a:r>
          </a:p>
        </p:txBody>
      </p:sp>
      <p:sp>
        <p:nvSpPr>
          <p:cNvPr id="16" name="Szövegdoboz 15">
            <a:extLst>
              <a:ext uri="{FF2B5EF4-FFF2-40B4-BE49-F238E27FC236}">
                <a16:creationId xmlns:a16="http://schemas.microsoft.com/office/drawing/2014/main" id="{F9EE3A56-B482-6331-1B36-8914899D3DFF}"/>
              </a:ext>
            </a:extLst>
          </p:cNvPr>
          <p:cNvSpPr txBox="1"/>
          <p:nvPr/>
        </p:nvSpPr>
        <p:spPr>
          <a:xfrm>
            <a:off x="9056076" y="5083929"/>
            <a:ext cx="2908399" cy="461665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 rtlCol="0">
            <a:spAutoFit/>
          </a:bodyPr>
          <a:lstStyle>
            <a:defPPr>
              <a:defRPr lang="hu-HU"/>
            </a:defPPr>
            <a:lvl1pPr>
              <a:defRPr sz="2400"/>
            </a:lvl1pPr>
          </a:lstStyle>
          <a:p>
            <a:r>
              <a:rPr lang="hu-H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Háromnegyed-szél</a:t>
            </a:r>
          </a:p>
        </p:txBody>
      </p:sp>
      <p:sp>
        <p:nvSpPr>
          <p:cNvPr id="17" name="Szövegdoboz 16">
            <a:extLst>
              <a:ext uri="{FF2B5EF4-FFF2-40B4-BE49-F238E27FC236}">
                <a16:creationId xmlns:a16="http://schemas.microsoft.com/office/drawing/2014/main" id="{271DB44A-CB52-5748-22B0-FB9CB9C22658}"/>
              </a:ext>
            </a:extLst>
          </p:cNvPr>
          <p:cNvSpPr txBox="1"/>
          <p:nvPr/>
        </p:nvSpPr>
        <p:spPr>
          <a:xfrm>
            <a:off x="7209994" y="5646598"/>
            <a:ext cx="1372012" cy="461665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 rtlCol="0">
            <a:spAutoFit/>
          </a:bodyPr>
          <a:lstStyle>
            <a:defPPr>
              <a:defRPr lang="hu-HU"/>
            </a:defPPr>
            <a:lvl1pPr>
              <a:defRPr sz="2400"/>
            </a:lvl1pPr>
          </a:lstStyle>
          <a:p>
            <a:r>
              <a:rPr lang="hu-H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Hátszél</a:t>
            </a:r>
          </a:p>
        </p:txBody>
      </p:sp>
      <p:sp>
        <p:nvSpPr>
          <p:cNvPr id="18" name="Nyíl: jobbra mutató 17">
            <a:extLst>
              <a:ext uri="{FF2B5EF4-FFF2-40B4-BE49-F238E27FC236}">
                <a16:creationId xmlns:a16="http://schemas.microsoft.com/office/drawing/2014/main" id="{24C54B87-90F0-4572-AE17-7A072C1F4442}"/>
              </a:ext>
            </a:extLst>
          </p:cNvPr>
          <p:cNvSpPr/>
          <p:nvPr/>
        </p:nvSpPr>
        <p:spPr>
          <a:xfrm rot="5400000">
            <a:off x="5730636" y="618193"/>
            <a:ext cx="1273167" cy="405106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9" name="Nyíl: jobbra mutató 18">
            <a:extLst>
              <a:ext uri="{FF2B5EF4-FFF2-40B4-BE49-F238E27FC236}">
                <a16:creationId xmlns:a16="http://schemas.microsoft.com/office/drawing/2014/main" id="{73BB9B98-8CB4-5AE9-F2DC-4C8975C5EF05}"/>
              </a:ext>
            </a:extLst>
          </p:cNvPr>
          <p:cNvSpPr/>
          <p:nvPr/>
        </p:nvSpPr>
        <p:spPr>
          <a:xfrm rot="5400000">
            <a:off x="8049122" y="618193"/>
            <a:ext cx="1273167" cy="405106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0" name="Nyíl: jobbra mutató 19">
            <a:extLst>
              <a:ext uri="{FF2B5EF4-FFF2-40B4-BE49-F238E27FC236}">
                <a16:creationId xmlns:a16="http://schemas.microsoft.com/office/drawing/2014/main" id="{235758A4-866A-1E67-4054-3B35D44227F1}"/>
              </a:ext>
            </a:extLst>
          </p:cNvPr>
          <p:cNvSpPr/>
          <p:nvPr/>
        </p:nvSpPr>
        <p:spPr>
          <a:xfrm rot="5400000">
            <a:off x="9737813" y="618194"/>
            <a:ext cx="1273167" cy="405106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965245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ABB778-5370-FEBF-D7BB-6D2B7A3FF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2E6DAD1-49C0-BDDA-727B-7C5318003D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6225" y="85725"/>
            <a:ext cx="3943350" cy="1519238"/>
          </a:xfrm>
        </p:spPr>
        <p:txBody>
          <a:bodyPr>
            <a:normAutofit/>
          </a:bodyPr>
          <a:lstStyle/>
          <a:p>
            <a:r>
              <a:rPr lang="hu-HU" sz="72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Fordulás</a:t>
            </a: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198DD191-0235-A8DB-791E-FE575BC25BE6}"/>
              </a:ext>
            </a:extLst>
          </p:cNvPr>
          <p:cNvSpPr txBox="1"/>
          <p:nvPr/>
        </p:nvSpPr>
        <p:spPr>
          <a:xfrm>
            <a:off x="457200" y="2028825"/>
            <a:ext cx="5105400" cy="2677656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 rtlCol="0">
            <a:spAutoFit/>
          </a:bodyPr>
          <a:lstStyle/>
          <a:p>
            <a:r>
              <a:rPr lang="hu-HU" sz="2400" dirty="0"/>
              <a:t>A forduló egy szél felé történő csapásváltó manőver. A vitorla átkerül az egyik oldalról a másikra, megtörténik a csapásváltás. A forduló mindig élesedéssel kezdődik szélbeállásig, majd ejtéssel, az új menetirány felvételével fejeződik be.</a:t>
            </a:r>
          </a:p>
        </p:txBody>
      </p:sp>
      <p:sp>
        <p:nvSpPr>
          <p:cNvPr id="18" name="Nyíl: jobbra mutató 17">
            <a:extLst>
              <a:ext uri="{FF2B5EF4-FFF2-40B4-BE49-F238E27FC236}">
                <a16:creationId xmlns:a16="http://schemas.microsoft.com/office/drawing/2014/main" id="{1BC45C31-89E4-EBB6-4B95-E9BF413FC87F}"/>
              </a:ext>
            </a:extLst>
          </p:cNvPr>
          <p:cNvSpPr/>
          <p:nvPr/>
        </p:nvSpPr>
        <p:spPr>
          <a:xfrm rot="5400000">
            <a:off x="5730636" y="618193"/>
            <a:ext cx="1273167" cy="405106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9" name="Nyíl: jobbra mutató 18">
            <a:extLst>
              <a:ext uri="{FF2B5EF4-FFF2-40B4-BE49-F238E27FC236}">
                <a16:creationId xmlns:a16="http://schemas.microsoft.com/office/drawing/2014/main" id="{82773285-17C6-B26D-1D43-A1DB19893690}"/>
              </a:ext>
            </a:extLst>
          </p:cNvPr>
          <p:cNvSpPr/>
          <p:nvPr/>
        </p:nvSpPr>
        <p:spPr>
          <a:xfrm rot="5400000">
            <a:off x="8049122" y="618193"/>
            <a:ext cx="1273167" cy="405106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0" name="Nyíl: jobbra mutató 19">
            <a:extLst>
              <a:ext uri="{FF2B5EF4-FFF2-40B4-BE49-F238E27FC236}">
                <a16:creationId xmlns:a16="http://schemas.microsoft.com/office/drawing/2014/main" id="{47D1C139-0625-84FA-49BD-8063798C6FEA}"/>
              </a:ext>
            </a:extLst>
          </p:cNvPr>
          <p:cNvSpPr/>
          <p:nvPr/>
        </p:nvSpPr>
        <p:spPr>
          <a:xfrm rot="5400000">
            <a:off x="9737813" y="618194"/>
            <a:ext cx="1273167" cy="405106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" name="Körszelet 20">
            <a:extLst>
              <a:ext uri="{FF2B5EF4-FFF2-40B4-BE49-F238E27FC236}">
                <a16:creationId xmlns:a16="http://schemas.microsoft.com/office/drawing/2014/main" id="{5B739D65-126E-71FB-E3AB-1465DC6BF9EF}"/>
              </a:ext>
            </a:extLst>
          </p:cNvPr>
          <p:cNvSpPr/>
          <p:nvPr/>
        </p:nvSpPr>
        <p:spPr>
          <a:xfrm flipV="1">
            <a:off x="10171843" y="5759539"/>
            <a:ext cx="2016000" cy="342900"/>
          </a:xfrm>
          <a:prstGeom prst="chord">
            <a:avLst>
              <a:gd name="adj1" fmla="val 5156490"/>
              <a:gd name="adj2" fmla="val 16380772"/>
            </a:avLst>
          </a:prstGeom>
          <a:solidFill>
            <a:schemeClr val="bg2">
              <a:lumMod val="75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" name="Körszelet 21">
            <a:extLst>
              <a:ext uri="{FF2B5EF4-FFF2-40B4-BE49-F238E27FC236}">
                <a16:creationId xmlns:a16="http://schemas.microsoft.com/office/drawing/2014/main" id="{DF96E6C4-07F2-CF98-C47A-2D80BFF8F8FE}"/>
              </a:ext>
            </a:extLst>
          </p:cNvPr>
          <p:cNvSpPr/>
          <p:nvPr/>
        </p:nvSpPr>
        <p:spPr>
          <a:xfrm rot="1485600" flipV="1">
            <a:off x="8175095" y="5588090"/>
            <a:ext cx="2016000" cy="342900"/>
          </a:xfrm>
          <a:prstGeom prst="chord">
            <a:avLst>
              <a:gd name="adj1" fmla="val 5156490"/>
              <a:gd name="adj2" fmla="val 16380772"/>
            </a:avLst>
          </a:prstGeom>
          <a:solidFill>
            <a:schemeClr val="bg2">
              <a:lumMod val="75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3" name="Körszelet 22">
            <a:extLst>
              <a:ext uri="{FF2B5EF4-FFF2-40B4-BE49-F238E27FC236}">
                <a16:creationId xmlns:a16="http://schemas.microsoft.com/office/drawing/2014/main" id="{218363DE-009B-2365-E432-8805CCDC2D16}"/>
              </a:ext>
            </a:extLst>
          </p:cNvPr>
          <p:cNvSpPr/>
          <p:nvPr/>
        </p:nvSpPr>
        <p:spPr>
          <a:xfrm rot="4923249" flipV="1">
            <a:off x="6948368" y="4737302"/>
            <a:ext cx="2016000" cy="342900"/>
          </a:xfrm>
          <a:prstGeom prst="chord">
            <a:avLst>
              <a:gd name="adj1" fmla="val 5156490"/>
              <a:gd name="adj2" fmla="val 16380772"/>
            </a:avLst>
          </a:prstGeom>
          <a:solidFill>
            <a:schemeClr val="bg2">
              <a:lumMod val="75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" name="Szövegdoboz 25">
            <a:extLst>
              <a:ext uri="{FF2B5EF4-FFF2-40B4-BE49-F238E27FC236}">
                <a16:creationId xmlns:a16="http://schemas.microsoft.com/office/drawing/2014/main" id="{71BD449D-987C-5F9D-CCE9-DE343093A9E7}"/>
              </a:ext>
            </a:extLst>
          </p:cNvPr>
          <p:cNvSpPr txBox="1"/>
          <p:nvPr/>
        </p:nvSpPr>
        <p:spPr>
          <a:xfrm>
            <a:off x="8867794" y="1797992"/>
            <a:ext cx="919220" cy="461665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 rtlCol="0">
            <a:spAutoFit/>
          </a:bodyPr>
          <a:lstStyle>
            <a:defPPr>
              <a:defRPr lang="hu-HU"/>
            </a:defPPr>
            <a:lvl1pPr>
              <a:defRPr sz="2400"/>
            </a:lvl1pPr>
          </a:lstStyle>
          <a:p>
            <a:r>
              <a:rPr lang="hu-H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Ejtés</a:t>
            </a:r>
          </a:p>
        </p:txBody>
      </p:sp>
      <p:sp>
        <p:nvSpPr>
          <p:cNvPr id="27" name="Szövegdoboz 26">
            <a:extLst>
              <a:ext uri="{FF2B5EF4-FFF2-40B4-BE49-F238E27FC236}">
                <a16:creationId xmlns:a16="http://schemas.microsoft.com/office/drawing/2014/main" id="{5F27E5F6-CAE6-65B0-F5BD-B1FA101AB833}"/>
              </a:ext>
            </a:extLst>
          </p:cNvPr>
          <p:cNvSpPr txBox="1"/>
          <p:nvPr/>
        </p:nvSpPr>
        <p:spPr>
          <a:xfrm>
            <a:off x="8028793" y="3429000"/>
            <a:ext cx="1758222" cy="461665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 rtlCol="0">
            <a:spAutoFit/>
          </a:bodyPr>
          <a:lstStyle>
            <a:defPPr>
              <a:defRPr lang="hu-HU"/>
            </a:defPPr>
            <a:lvl1pPr>
              <a:defRPr sz="2400"/>
            </a:lvl1pPr>
          </a:lstStyle>
          <a:p>
            <a:r>
              <a:rPr lang="hu-H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Szélbeállás</a:t>
            </a:r>
          </a:p>
        </p:txBody>
      </p:sp>
      <p:sp>
        <p:nvSpPr>
          <p:cNvPr id="28" name="Szövegdoboz 27">
            <a:extLst>
              <a:ext uri="{FF2B5EF4-FFF2-40B4-BE49-F238E27FC236}">
                <a16:creationId xmlns:a16="http://schemas.microsoft.com/office/drawing/2014/main" id="{A00CF76F-5E63-906B-E532-F071D916E635}"/>
              </a:ext>
            </a:extLst>
          </p:cNvPr>
          <p:cNvSpPr txBox="1"/>
          <p:nvPr/>
        </p:nvSpPr>
        <p:spPr>
          <a:xfrm>
            <a:off x="6474106" y="5297874"/>
            <a:ext cx="1447481" cy="461665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 rtlCol="0">
            <a:spAutoFit/>
          </a:bodyPr>
          <a:lstStyle>
            <a:defPPr>
              <a:defRPr lang="hu-HU"/>
            </a:defPPr>
            <a:lvl1pPr>
              <a:defRPr sz="2400"/>
            </a:lvl1pPr>
          </a:lstStyle>
          <a:p>
            <a:r>
              <a:rPr lang="hu-H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Élesedés</a:t>
            </a:r>
          </a:p>
        </p:txBody>
      </p:sp>
      <p:sp>
        <p:nvSpPr>
          <p:cNvPr id="29" name="Körszelet 28">
            <a:extLst>
              <a:ext uri="{FF2B5EF4-FFF2-40B4-BE49-F238E27FC236}">
                <a16:creationId xmlns:a16="http://schemas.microsoft.com/office/drawing/2014/main" id="{848DBC7F-3D63-D11E-53AC-485319D76FE9}"/>
              </a:ext>
            </a:extLst>
          </p:cNvPr>
          <p:cNvSpPr/>
          <p:nvPr/>
        </p:nvSpPr>
        <p:spPr>
          <a:xfrm rot="9020902" flipV="1">
            <a:off x="6716883" y="2896358"/>
            <a:ext cx="2016000" cy="342900"/>
          </a:xfrm>
          <a:prstGeom prst="chord">
            <a:avLst>
              <a:gd name="adj1" fmla="val 5156490"/>
              <a:gd name="adj2" fmla="val 16380772"/>
            </a:avLst>
          </a:prstGeom>
          <a:solidFill>
            <a:schemeClr val="bg2">
              <a:lumMod val="75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" name="Körszelet 29">
            <a:extLst>
              <a:ext uri="{FF2B5EF4-FFF2-40B4-BE49-F238E27FC236}">
                <a16:creationId xmlns:a16="http://schemas.microsoft.com/office/drawing/2014/main" id="{94A72689-2231-B048-29C2-3FCED56E6729}"/>
              </a:ext>
            </a:extLst>
          </p:cNvPr>
          <p:cNvSpPr/>
          <p:nvPr/>
        </p:nvSpPr>
        <p:spPr>
          <a:xfrm rot="10800000" flipV="1">
            <a:off x="8685705" y="2427263"/>
            <a:ext cx="2016000" cy="342900"/>
          </a:xfrm>
          <a:prstGeom prst="chord">
            <a:avLst>
              <a:gd name="adj1" fmla="val 5156490"/>
              <a:gd name="adj2" fmla="val 16380772"/>
            </a:avLst>
          </a:prstGeom>
          <a:solidFill>
            <a:schemeClr val="bg2">
              <a:lumMod val="75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833867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6DF038-D068-244A-32A9-E35DAED7C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A3241E8-E81F-AF53-4781-55628AF9EC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6225" y="85725"/>
            <a:ext cx="3943350" cy="1519238"/>
          </a:xfrm>
        </p:spPr>
        <p:txBody>
          <a:bodyPr>
            <a:normAutofit/>
          </a:bodyPr>
          <a:lstStyle/>
          <a:p>
            <a:r>
              <a:rPr lang="hu-HU" sz="72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Fordulás</a:t>
            </a: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38527356-F311-00E2-0DB3-C2DB0ACC7C52}"/>
              </a:ext>
            </a:extLst>
          </p:cNvPr>
          <p:cNvSpPr txBox="1"/>
          <p:nvPr/>
        </p:nvSpPr>
        <p:spPr>
          <a:xfrm>
            <a:off x="457200" y="2028825"/>
            <a:ext cx="5105400" cy="2677656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 rtlCol="0">
            <a:spAutoFit/>
          </a:bodyPr>
          <a:lstStyle/>
          <a:p>
            <a:r>
              <a:rPr lang="hu-HU" sz="2400" dirty="0"/>
              <a:t>A forduló egy szél felé történő csapásváltó manőver. A vitorla átkerül az egyik oldalról a másikra, megtörténik a csapásváltás. A forduló mindig élesedéssel kezdődik szélbeállásig, majd ejtéssel, az új menetirány felvételével fejeződik be.</a:t>
            </a:r>
          </a:p>
        </p:txBody>
      </p:sp>
      <p:sp>
        <p:nvSpPr>
          <p:cNvPr id="18" name="Nyíl: jobbra mutató 17">
            <a:extLst>
              <a:ext uri="{FF2B5EF4-FFF2-40B4-BE49-F238E27FC236}">
                <a16:creationId xmlns:a16="http://schemas.microsoft.com/office/drawing/2014/main" id="{7B59D12E-34E6-70F1-9176-6158D69CA0F3}"/>
              </a:ext>
            </a:extLst>
          </p:cNvPr>
          <p:cNvSpPr/>
          <p:nvPr/>
        </p:nvSpPr>
        <p:spPr>
          <a:xfrm rot="5400000">
            <a:off x="5730636" y="618193"/>
            <a:ext cx="1273167" cy="405106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9" name="Nyíl: jobbra mutató 18">
            <a:extLst>
              <a:ext uri="{FF2B5EF4-FFF2-40B4-BE49-F238E27FC236}">
                <a16:creationId xmlns:a16="http://schemas.microsoft.com/office/drawing/2014/main" id="{BCDBD800-A917-F6ED-5B18-C01A5C05C4AC}"/>
              </a:ext>
            </a:extLst>
          </p:cNvPr>
          <p:cNvSpPr/>
          <p:nvPr/>
        </p:nvSpPr>
        <p:spPr>
          <a:xfrm rot="5400000">
            <a:off x="8049122" y="618193"/>
            <a:ext cx="1273167" cy="405106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0" name="Nyíl: jobbra mutató 19">
            <a:extLst>
              <a:ext uri="{FF2B5EF4-FFF2-40B4-BE49-F238E27FC236}">
                <a16:creationId xmlns:a16="http://schemas.microsoft.com/office/drawing/2014/main" id="{0C329580-1B44-A2C2-1C6C-E952CF77B93E}"/>
              </a:ext>
            </a:extLst>
          </p:cNvPr>
          <p:cNvSpPr/>
          <p:nvPr/>
        </p:nvSpPr>
        <p:spPr>
          <a:xfrm rot="5400000">
            <a:off x="9737813" y="618194"/>
            <a:ext cx="1273167" cy="405106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" name="Körszelet 20">
            <a:extLst>
              <a:ext uri="{FF2B5EF4-FFF2-40B4-BE49-F238E27FC236}">
                <a16:creationId xmlns:a16="http://schemas.microsoft.com/office/drawing/2014/main" id="{7329B451-25D1-BF0E-F3B3-195B9524C7B8}"/>
              </a:ext>
            </a:extLst>
          </p:cNvPr>
          <p:cNvSpPr/>
          <p:nvPr/>
        </p:nvSpPr>
        <p:spPr>
          <a:xfrm flipV="1">
            <a:off x="10171843" y="5759539"/>
            <a:ext cx="2016000" cy="342900"/>
          </a:xfrm>
          <a:prstGeom prst="chord">
            <a:avLst>
              <a:gd name="adj1" fmla="val 5156490"/>
              <a:gd name="adj2" fmla="val 16380772"/>
            </a:avLst>
          </a:prstGeom>
          <a:solidFill>
            <a:schemeClr val="bg2">
              <a:lumMod val="75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" name="Körszelet 21">
            <a:extLst>
              <a:ext uri="{FF2B5EF4-FFF2-40B4-BE49-F238E27FC236}">
                <a16:creationId xmlns:a16="http://schemas.microsoft.com/office/drawing/2014/main" id="{FBD765AB-5844-3FE7-A6FA-10603C5308AD}"/>
              </a:ext>
            </a:extLst>
          </p:cNvPr>
          <p:cNvSpPr/>
          <p:nvPr/>
        </p:nvSpPr>
        <p:spPr>
          <a:xfrm rot="1485600" flipV="1">
            <a:off x="8175095" y="5588090"/>
            <a:ext cx="2016000" cy="342900"/>
          </a:xfrm>
          <a:prstGeom prst="chord">
            <a:avLst>
              <a:gd name="adj1" fmla="val 5156490"/>
              <a:gd name="adj2" fmla="val 16380772"/>
            </a:avLst>
          </a:prstGeom>
          <a:solidFill>
            <a:schemeClr val="bg2">
              <a:lumMod val="75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3" name="Körszelet 22">
            <a:extLst>
              <a:ext uri="{FF2B5EF4-FFF2-40B4-BE49-F238E27FC236}">
                <a16:creationId xmlns:a16="http://schemas.microsoft.com/office/drawing/2014/main" id="{A5D92D0E-3C6C-8EBD-43DD-79AC57CF5727}"/>
              </a:ext>
            </a:extLst>
          </p:cNvPr>
          <p:cNvSpPr/>
          <p:nvPr/>
        </p:nvSpPr>
        <p:spPr>
          <a:xfrm rot="4923249" flipV="1">
            <a:off x="6948368" y="4737302"/>
            <a:ext cx="2016000" cy="342900"/>
          </a:xfrm>
          <a:prstGeom prst="chord">
            <a:avLst>
              <a:gd name="adj1" fmla="val 5156490"/>
              <a:gd name="adj2" fmla="val 16380772"/>
            </a:avLst>
          </a:prstGeom>
          <a:solidFill>
            <a:schemeClr val="bg2">
              <a:lumMod val="75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" name="Szövegdoboz 25">
            <a:extLst>
              <a:ext uri="{FF2B5EF4-FFF2-40B4-BE49-F238E27FC236}">
                <a16:creationId xmlns:a16="http://schemas.microsoft.com/office/drawing/2014/main" id="{7002B218-E557-5DA1-3632-2241D688E629}"/>
              </a:ext>
            </a:extLst>
          </p:cNvPr>
          <p:cNvSpPr txBox="1"/>
          <p:nvPr/>
        </p:nvSpPr>
        <p:spPr>
          <a:xfrm>
            <a:off x="8867794" y="1797992"/>
            <a:ext cx="919220" cy="461665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 rtlCol="0">
            <a:spAutoFit/>
          </a:bodyPr>
          <a:lstStyle>
            <a:defPPr>
              <a:defRPr lang="hu-HU"/>
            </a:defPPr>
            <a:lvl1pPr>
              <a:defRPr sz="2400"/>
            </a:lvl1pPr>
          </a:lstStyle>
          <a:p>
            <a:r>
              <a:rPr lang="hu-H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Ejtés</a:t>
            </a:r>
          </a:p>
        </p:txBody>
      </p:sp>
      <p:sp>
        <p:nvSpPr>
          <p:cNvPr id="27" name="Szövegdoboz 26">
            <a:extLst>
              <a:ext uri="{FF2B5EF4-FFF2-40B4-BE49-F238E27FC236}">
                <a16:creationId xmlns:a16="http://schemas.microsoft.com/office/drawing/2014/main" id="{EE45F9B3-E28E-A3BC-CE45-82602D6563F4}"/>
              </a:ext>
            </a:extLst>
          </p:cNvPr>
          <p:cNvSpPr txBox="1"/>
          <p:nvPr/>
        </p:nvSpPr>
        <p:spPr>
          <a:xfrm>
            <a:off x="8028793" y="3429000"/>
            <a:ext cx="1758222" cy="461665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 rtlCol="0">
            <a:spAutoFit/>
          </a:bodyPr>
          <a:lstStyle>
            <a:defPPr>
              <a:defRPr lang="hu-HU"/>
            </a:defPPr>
            <a:lvl1pPr>
              <a:defRPr sz="2400"/>
            </a:lvl1pPr>
          </a:lstStyle>
          <a:p>
            <a:r>
              <a:rPr lang="hu-H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Szélbeállás</a:t>
            </a:r>
          </a:p>
        </p:txBody>
      </p:sp>
      <p:sp>
        <p:nvSpPr>
          <p:cNvPr id="28" name="Szövegdoboz 27">
            <a:extLst>
              <a:ext uri="{FF2B5EF4-FFF2-40B4-BE49-F238E27FC236}">
                <a16:creationId xmlns:a16="http://schemas.microsoft.com/office/drawing/2014/main" id="{F3374963-C67B-2FBE-F614-39FA1AAA0628}"/>
              </a:ext>
            </a:extLst>
          </p:cNvPr>
          <p:cNvSpPr txBox="1"/>
          <p:nvPr/>
        </p:nvSpPr>
        <p:spPr>
          <a:xfrm>
            <a:off x="6474106" y="5297874"/>
            <a:ext cx="1447481" cy="461665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 rtlCol="0">
            <a:spAutoFit/>
          </a:bodyPr>
          <a:lstStyle>
            <a:defPPr>
              <a:defRPr lang="hu-HU"/>
            </a:defPPr>
            <a:lvl1pPr>
              <a:defRPr sz="2400"/>
            </a:lvl1pPr>
          </a:lstStyle>
          <a:p>
            <a:r>
              <a:rPr lang="hu-H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Élesedés</a:t>
            </a:r>
          </a:p>
        </p:txBody>
      </p:sp>
      <p:sp>
        <p:nvSpPr>
          <p:cNvPr id="29" name="Körszelet 28">
            <a:extLst>
              <a:ext uri="{FF2B5EF4-FFF2-40B4-BE49-F238E27FC236}">
                <a16:creationId xmlns:a16="http://schemas.microsoft.com/office/drawing/2014/main" id="{19BF5C52-F174-A83C-846D-54B9C04605F8}"/>
              </a:ext>
            </a:extLst>
          </p:cNvPr>
          <p:cNvSpPr/>
          <p:nvPr/>
        </p:nvSpPr>
        <p:spPr>
          <a:xfrm rot="9020902" flipV="1">
            <a:off x="6716883" y="2896358"/>
            <a:ext cx="2016000" cy="342900"/>
          </a:xfrm>
          <a:prstGeom prst="chord">
            <a:avLst>
              <a:gd name="adj1" fmla="val 5156490"/>
              <a:gd name="adj2" fmla="val 16380772"/>
            </a:avLst>
          </a:prstGeom>
          <a:solidFill>
            <a:schemeClr val="bg2">
              <a:lumMod val="75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" name="Körszelet 29">
            <a:extLst>
              <a:ext uri="{FF2B5EF4-FFF2-40B4-BE49-F238E27FC236}">
                <a16:creationId xmlns:a16="http://schemas.microsoft.com/office/drawing/2014/main" id="{F3856F0D-8C5B-7ED1-E9A5-0A783D7D946D}"/>
              </a:ext>
            </a:extLst>
          </p:cNvPr>
          <p:cNvSpPr/>
          <p:nvPr/>
        </p:nvSpPr>
        <p:spPr>
          <a:xfrm rot="10800000" flipV="1">
            <a:off x="8685705" y="2427263"/>
            <a:ext cx="2016000" cy="342900"/>
          </a:xfrm>
          <a:prstGeom prst="chord">
            <a:avLst>
              <a:gd name="adj1" fmla="val 5156490"/>
              <a:gd name="adj2" fmla="val 16380772"/>
            </a:avLst>
          </a:prstGeom>
          <a:solidFill>
            <a:schemeClr val="bg2">
              <a:lumMod val="75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61406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40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 autoUpdateAnimBg="0"/>
      <p:bldP spid="22" grpId="0" animBg="1" autoUpdateAnimBg="0"/>
      <p:bldP spid="23" grpId="0" animBg="1"/>
      <p:bldP spid="29" grpId="0" animBg="1"/>
      <p:bldP spid="30" grpId="0" animBg="1"/>
    </p:bldLst>
  </p:timing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131</Words>
  <Application>Microsoft Office PowerPoint</Application>
  <PresentationFormat>Szélesvásznú</PresentationFormat>
  <Paragraphs>18</Paragraphs>
  <Slides>4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Open sans</vt:lpstr>
      <vt:lpstr>Office-téma</vt:lpstr>
      <vt:lpstr>Vitorlázás</vt:lpstr>
      <vt:lpstr>Szélkör</vt:lpstr>
      <vt:lpstr>Fordulás</vt:lpstr>
      <vt:lpstr>Fordulás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O365 felhasználó</dc:creator>
  <cp:lastModifiedBy>O365 felhasználó</cp:lastModifiedBy>
  <cp:revision>2</cp:revision>
  <dcterms:created xsi:type="dcterms:W3CDTF">2026-10-09T15:35:11Z</dcterms:created>
  <dcterms:modified xsi:type="dcterms:W3CDTF">2026-10-09T16:12:03Z</dcterms:modified>
</cp:coreProperties>
</file>