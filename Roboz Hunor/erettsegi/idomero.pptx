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239625" cy="6840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D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43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E5AE0-CB66-4480-A6B7-BE53D4EDDE4E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68338" y="1143000"/>
            <a:ext cx="552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7B9FB-D18C-4022-9DA0-A397CCA8AAD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156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víz a tölcsérbe (1) jut, és átmegy a hengerbe, amelyben az úszó (2) felemelkedik. Ez egy fogasléchez van csatlakoztatva, amely az óramutatót működteti. A víz áramlási sebességét a beosztásos dugó (3) szabályozza.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7B9FB-D18C-4022-9DA0-A397CCA8AAD4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04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9953" y="1119505"/>
            <a:ext cx="9179719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9953" y="3592866"/>
            <a:ext cx="9179719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547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91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099" y="1705385"/>
            <a:ext cx="10556677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099" y="4577778"/>
            <a:ext cx="10556677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82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82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824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474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310" y="1820976"/>
            <a:ext cx="5201841" cy="43402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4686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8" y="364196"/>
            <a:ext cx="10556677" cy="1322188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069" y="1676882"/>
            <a:ext cx="51779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069" y="2498697"/>
            <a:ext cx="51779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310" y="1676882"/>
            <a:ext cx="52034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310" y="2498697"/>
            <a:ext cx="5203435" cy="367520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801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740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013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3435" y="984911"/>
            <a:ext cx="6196310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396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069" y="456036"/>
            <a:ext cx="3947597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3435" y="984911"/>
            <a:ext cx="6196310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069" y="2052161"/>
            <a:ext cx="3947597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2810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342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58982" y="364195"/>
            <a:ext cx="2639169" cy="579704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1474" y="364195"/>
            <a:ext cx="7764512" cy="57970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573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1474" y="364196"/>
            <a:ext cx="10556677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474" y="1820976"/>
            <a:ext cx="10556677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1474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669DD-27B9-4F38-A520-67B1896051ED}" type="datetimeFigureOut">
              <a:rPr lang="hu-HU" smtClean="0"/>
              <a:t>2026. 09. 04.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4376" y="6340166"/>
            <a:ext cx="4130873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4235" y="6340166"/>
            <a:ext cx="2753916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02C7D-C6A0-4598-A2EF-A78FD1DF8DC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299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253121-53A6-3380-4954-51471A60D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474" y="5518350"/>
            <a:ext cx="10556677" cy="1322188"/>
          </a:xfrm>
        </p:spPr>
        <p:txBody>
          <a:bodyPr>
            <a:normAutofit/>
          </a:bodyPr>
          <a:lstStyle/>
          <a:p>
            <a:pPr algn="ctr"/>
            <a:r>
              <a:rPr lang="hu-HU" sz="800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Podkova"/>
              </a:rPr>
              <a:t>Régi időmérő eszközök</a:t>
            </a:r>
          </a:p>
        </p:txBody>
      </p:sp>
    </p:spTree>
    <p:extLst>
      <p:ext uri="{BB962C8B-B14F-4D97-AF65-F5344CB8AC3E}">
        <p14:creationId xmlns:p14="http://schemas.microsoft.com/office/powerpoint/2010/main" val="399639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A0DCE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691B9B-A96D-5E57-6723-270D07E0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900" b="1" dirty="0">
                <a:latin typeface="Podkova"/>
              </a:rPr>
              <a:t>Napóra (árnyékóra)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C951552-9A65-18DD-65D7-CF1BE5CDF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sz="3100" dirty="0">
                <a:latin typeface="Podkova"/>
              </a:rPr>
              <a:t>Kr. e. 5. évezred</a:t>
            </a:r>
          </a:p>
          <a:p>
            <a:r>
              <a:rPr lang="hu-HU" sz="3100" dirty="0">
                <a:latin typeface="Podkova"/>
              </a:rPr>
              <a:t>A legpontosabb eszköz még a középkorban is</a:t>
            </a:r>
          </a:p>
          <a:p>
            <a:r>
              <a:rPr lang="hu-HU" sz="3100" dirty="0">
                <a:latin typeface="Podkova"/>
              </a:rPr>
              <a:t>A helyi időt mutatja</a:t>
            </a:r>
          </a:p>
          <a:p>
            <a:r>
              <a:rPr lang="hu-HU" sz="3100" dirty="0">
                <a:latin typeface="Podkova"/>
              </a:rPr>
              <a:t>Részei</a:t>
            </a:r>
          </a:p>
          <a:p>
            <a:pPr lvl="1"/>
            <a:r>
              <a:rPr lang="hu-HU" sz="2500" dirty="0">
                <a:latin typeface="Podkova"/>
              </a:rPr>
              <a:t>árnyékvető (gnómon)</a:t>
            </a:r>
          </a:p>
          <a:p>
            <a:pPr lvl="1"/>
            <a:r>
              <a:rPr lang="hu-HU" sz="2500" dirty="0">
                <a:latin typeface="Podkova"/>
              </a:rPr>
              <a:t>számlap</a:t>
            </a:r>
          </a:p>
          <a:p>
            <a:r>
              <a:rPr lang="hu-HU" sz="3100" dirty="0">
                <a:latin typeface="Podkova"/>
              </a:rPr>
              <a:t>Típusai</a:t>
            </a:r>
          </a:p>
          <a:p>
            <a:pPr lvl="1"/>
            <a:r>
              <a:rPr lang="hu-HU" sz="2500" dirty="0">
                <a:latin typeface="Podkova"/>
              </a:rPr>
              <a:t>rögzített</a:t>
            </a:r>
          </a:p>
          <a:p>
            <a:pPr lvl="1"/>
            <a:r>
              <a:rPr lang="hu-HU" sz="2500" dirty="0">
                <a:latin typeface="Podkova"/>
              </a:rPr>
              <a:t>hordozható</a:t>
            </a:r>
          </a:p>
          <a:p>
            <a:endParaRPr lang="hu-HU" dirty="0">
              <a:latin typeface="Podkova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B305890-89E4-389F-B118-3063295F5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4" r="9900"/>
          <a:stretch/>
        </p:blipFill>
        <p:spPr>
          <a:xfrm>
            <a:off x="7176304" y="2011105"/>
            <a:ext cx="4221847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27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A0DCE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D00A85-6895-B317-9C2A-65C6D92E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900" b="1" dirty="0">
                <a:latin typeface="Podkova"/>
              </a:rPr>
              <a:t>Vízóra (</a:t>
            </a:r>
            <a:r>
              <a:rPr lang="hu-HU" sz="4900" b="1" dirty="0" err="1">
                <a:latin typeface="Podkova"/>
              </a:rPr>
              <a:t>klepszüdra</a:t>
            </a:r>
            <a:r>
              <a:rPr lang="hu-HU" sz="4900" b="1" dirty="0">
                <a:latin typeface="Podkova"/>
              </a:rPr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36CEFAF-FE41-BCBF-8BB3-0F9AF6B04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3100" dirty="0">
                <a:latin typeface="Podkova"/>
              </a:rPr>
              <a:t>Mezopotámia, Egyiptom, Távol-Kelet</a:t>
            </a:r>
          </a:p>
          <a:p>
            <a:r>
              <a:rPr lang="hu-HU" sz="3100" dirty="0">
                <a:latin typeface="Podkova"/>
              </a:rPr>
              <a:t>A víz átcsöpög a másik edénybe</a:t>
            </a:r>
          </a:p>
          <a:p>
            <a:r>
              <a:rPr lang="hu-HU" sz="3100" dirty="0">
                <a:latin typeface="Podkova"/>
              </a:rPr>
              <a:t>Tölcsér alak: egyenletesen</a:t>
            </a:r>
          </a:p>
          <a:p>
            <a:r>
              <a:rPr lang="hu-HU" sz="3100" dirty="0">
                <a:latin typeface="Podkova"/>
              </a:rPr>
              <a:t>Ókori Görögország: beszédek hossza</a:t>
            </a:r>
          </a:p>
          <a:p>
            <a:r>
              <a:rPr lang="hu-HU" sz="3100" dirty="0">
                <a:latin typeface="Podkova"/>
              </a:rPr>
              <a:t>Galilei: kísérleteihez időméréshez</a:t>
            </a:r>
          </a:p>
          <a:p>
            <a:endParaRPr lang="hu-HU" sz="3100" dirty="0">
              <a:latin typeface="Podkova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FEA30ED-0F3D-65A2-AE37-D65CB8C32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151" y="1686384"/>
            <a:ext cx="2880000" cy="443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7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A0DCE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751134-BACA-D612-86CF-9C569557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900" b="1" dirty="0">
                <a:latin typeface="Podkova"/>
              </a:rPr>
              <a:t>Gyertyaóra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C769A3C-B6C0-B402-F8D3-1D58ED605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3100" dirty="0">
                <a:latin typeface="Podkova"/>
              </a:rPr>
              <a:t>Kb. 900 éve terjedt el</a:t>
            </a:r>
          </a:p>
          <a:p>
            <a:r>
              <a:rPr lang="hu-HU" sz="3100" dirty="0">
                <a:latin typeface="Podkova"/>
              </a:rPr>
              <a:t>A gyertya egyenletesen fogy</a:t>
            </a:r>
          </a:p>
          <a:p>
            <a:r>
              <a:rPr lang="hu-HU" sz="3100" dirty="0">
                <a:latin typeface="Podkova"/>
              </a:rPr>
              <a:t>Beosztás a gyertyán vagy a gyertya mögött</a:t>
            </a:r>
          </a:p>
          <a:p>
            <a:r>
              <a:rPr lang="hu-HU" sz="3100" dirty="0">
                <a:latin typeface="Podkova"/>
              </a:rPr>
              <a:t>Időzítés:</a:t>
            </a:r>
          </a:p>
          <a:p>
            <a:pPr lvl="1"/>
            <a:r>
              <a:rPr lang="hu-HU" sz="2500" dirty="0">
                <a:latin typeface="Podkova"/>
              </a:rPr>
              <a:t>szeg a megfelelő osztásnál</a:t>
            </a:r>
          </a:p>
          <a:p>
            <a:pPr lvl="1"/>
            <a:r>
              <a:rPr lang="hu-HU" sz="2500" dirty="0">
                <a:latin typeface="Podkova"/>
              </a:rPr>
              <a:t>amikor odáig leég, a szeg fémtálkába esik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D19E9C8-FA1B-E4C7-7C55-D998673EC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746" y="1259999"/>
            <a:ext cx="3240405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47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A0DCE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DCB1D8-2C9A-504E-60ED-14C0CDF3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900" b="1" dirty="0">
                <a:latin typeface="Podkova"/>
              </a:rPr>
              <a:t>Homokóra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66460F-16CB-2C7C-25EA-E2A71406F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3100" dirty="0">
                <a:latin typeface="Podkova"/>
              </a:rPr>
              <a:t>Első feljegyzés: XIV. század</a:t>
            </a:r>
          </a:p>
          <a:p>
            <a:r>
              <a:rPr lang="hu-HU" sz="3100" dirty="0">
                <a:latin typeface="Podkova"/>
              </a:rPr>
              <a:t>Két vékony csővel összekötött edény</a:t>
            </a:r>
          </a:p>
          <a:p>
            <a:r>
              <a:rPr lang="hu-HU" sz="3100" dirty="0">
                <a:latin typeface="Podkova"/>
              </a:rPr>
              <a:t>A felső tartályból homok pereg</a:t>
            </a:r>
          </a:p>
          <a:p>
            <a:r>
              <a:rPr lang="hu-HU" sz="3100" dirty="0">
                <a:latin typeface="Podkova"/>
              </a:rPr>
              <a:t>Időtartamot mér</a:t>
            </a:r>
          </a:p>
          <a:p>
            <a:r>
              <a:rPr lang="hu-HU" sz="3100" dirty="0">
                <a:latin typeface="Podkova"/>
              </a:rPr>
              <a:t>Újraindítás: megfordítják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C11FEDD-4569-06BF-01C8-486A65CE9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458" y="1686384"/>
            <a:ext cx="1960880" cy="43180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5CC675DC-3C28-B7E5-6E36-7A7F3BF565AE}"/>
              </a:ext>
            </a:extLst>
          </p:cNvPr>
          <p:cNvSpPr txBox="1"/>
          <p:nvPr/>
        </p:nvSpPr>
        <p:spPr>
          <a:xfrm>
            <a:off x="841474" y="5162309"/>
            <a:ext cx="5278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Podkova"/>
              </a:rPr>
              <a:t>A világ legnagyobb homokóráját, a Világórát hazánk EU-s csatlakozása alkalmából Budapesten adták át.</a:t>
            </a: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47C80BAA-2A52-66AE-49CA-9F4562AEA9EC}"/>
              </a:ext>
            </a:extLst>
          </p:cNvPr>
          <p:cNvCxnSpPr>
            <a:cxnSpLocks/>
          </p:cNvCxnSpPr>
          <p:nvPr/>
        </p:nvCxnSpPr>
        <p:spPr>
          <a:xfrm>
            <a:off x="8461094" y="3831220"/>
            <a:ext cx="17593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1B57BB9E-5188-A926-F5BC-FEEEF381CAE1}"/>
              </a:ext>
            </a:extLst>
          </p:cNvPr>
          <p:cNvCxnSpPr>
            <a:cxnSpLocks/>
          </p:cNvCxnSpPr>
          <p:nvPr/>
        </p:nvCxnSpPr>
        <p:spPr>
          <a:xfrm flipV="1">
            <a:off x="8449519" y="2708476"/>
            <a:ext cx="1770927" cy="5555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9EA9DBBE-3120-4359-5550-3FD013CC738F}"/>
              </a:ext>
            </a:extLst>
          </p:cNvPr>
          <p:cNvCxnSpPr>
            <a:cxnSpLocks/>
          </p:cNvCxnSpPr>
          <p:nvPr/>
        </p:nvCxnSpPr>
        <p:spPr>
          <a:xfrm>
            <a:off x="8831484" y="4583575"/>
            <a:ext cx="1388962" cy="3935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BD8CAE8A-BCA5-EF3C-D2D4-0F079BC7E96C}"/>
              </a:ext>
            </a:extLst>
          </p:cNvPr>
          <p:cNvCxnSpPr>
            <a:cxnSpLocks/>
          </p:cNvCxnSpPr>
          <p:nvPr/>
        </p:nvCxnSpPr>
        <p:spPr>
          <a:xfrm>
            <a:off x="8692587" y="5808640"/>
            <a:ext cx="1527859" cy="1957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F4E455F0-9C1A-292E-9447-D62D83113886}"/>
              </a:ext>
            </a:extLst>
          </p:cNvPr>
          <p:cNvSpPr txBox="1"/>
          <p:nvPr/>
        </p:nvSpPr>
        <p:spPr>
          <a:xfrm>
            <a:off x="10222857" y="2523810"/>
            <a:ext cx="1454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Podkova"/>
              </a:rPr>
              <a:t>száraz homok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EF4AC4E8-7789-E38B-9617-FBD29351D232}"/>
              </a:ext>
            </a:extLst>
          </p:cNvPr>
          <p:cNvSpPr txBox="1"/>
          <p:nvPr/>
        </p:nvSpPr>
        <p:spPr>
          <a:xfrm>
            <a:off x="10220446" y="3636037"/>
            <a:ext cx="712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Podkova"/>
              </a:rPr>
              <a:t>nyílás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3E9BDDCB-15D5-142A-865A-C46018BE7294}"/>
              </a:ext>
            </a:extLst>
          </p:cNvPr>
          <p:cNvSpPr txBox="1"/>
          <p:nvPr/>
        </p:nvSpPr>
        <p:spPr>
          <a:xfrm>
            <a:off x="10220446" y="4806890"/>
            <a:ext cx="1285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üvegtartály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3E2F7FC8-480A-1D39-EE0C-B0BA5E8A15A6}"/>
              </a:ext>
            </a:extLst>
          </p:cNvPr>
          <p:cNvSpPr txBox="1"/>
          <p:nvPr/>
        </p:nvSpPr>
        <p:spPr>
          <a:xfrm>
            <a:off x="10220446" y="5820430"/>
            <a:ext cx="158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tartószerkezet</a:t>
            </a:r>
          </a:p>
        </p:txBody>
      </p:sp>
    </p:spTree>
    <p:extLst>
      <p:ext uri="{BB962C8B-B14F-4D97-AF65-F5344CB8AC3E}">
        <p14:creationId xmlns:p14="http://schemas.microsoft.com/office/powerpoint/2010/main" val="2843242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é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163</TotalTime>
  <Words>182</Words>
  <Application>Microsoft Office PowerPoint</Application>
  <PresentationFormat>Egyéni</PresentationFormat>
  <Paragraphs>37</Paragraphs>
  <Slides>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Podkova</vt:lpstr>
      <vt:lpstr>Office-téma</vt:lpstr>
      <vt:lpstr>Régi időmérő eszközök</vt:lpstr>
      <vt:lpstr>Napóra (árnyékóra)</vt:lpstr>
      <vt:lpstr>Vízóra (klepszüdra)</vt:lpstr>
      <vt:lpstr>Gyertyaóra</vt:lpstr>
      <vt:lpstr>Homokóra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Hunor Roboz</dc:creator>
  <cp:lastModifiedBy>Hunor Roboz</cp:lastModifiedBy>
  <cp:revision>3</cp:revision>
  <dcterms:created xsi:type="dcterms:W3CDTF">2026-09-04T16:07:38Z</dcterms:created>
  <dcterms:modified xsi:type="dcterms:W3CDTF">2026-09-04T18:51:22Z</dcterms:modified>
</cp:coreProperties>
</file>