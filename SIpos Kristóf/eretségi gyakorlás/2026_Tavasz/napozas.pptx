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01643C-2A59-A36A-F5E8-29612C7DD928}" v="611" dt="2026-09-20T22:43:17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8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D9274A69-FB52-C54A-7DC2-0204A711A2EA}"/>
              </a:ext>
            </a:extLst>
          </p:cNvPr>
          <p:cNvSpPr txBox="1"/>
          <p:nvPr/>
        </p:nvSpPr>
        <p:spPr>
          <a:xfrm>
            <a:off x="7085611" y="291935"/>
            <a:ext cx="4809506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chemeClr val="bg1">
                    <a:lumMod val="49000"/>
                  </a:schemeClr>
                </a:solidFill>
                <a:latin typeface="Open Sans"/>
                <a:ea typeface="Open Sans"/>
                <a:cs typeface="Open Sans"/>
              </a:rPr>
              <a:t>A NAPOZÁS</a:t>
            </a:r>
          </a:p>
          <a:p>
            <a:r>
              <a:rPr lang="en-US" sz="4000" b="1" dirty="0">
                <a:solidFill>
                  <a:schemeClr val="bg1">
                    <a:lumMod val="49000"/>
                  </a:schemeClr>
                </a:solidFill>
                <a:latin typeface="Open Sans"/>
                <a:ea typeface="Open Sans"/>
                <a:cs typeface="Open Sans"/>
              </a:rPr>
              <a:t>ARANYSZABÁLYAI</a:t>
            </a:r>
          </a:p>
          <a:p>
            <a:pPr algn="ctr"/>
            <a:endParaRPr lang="en-US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9A9634F-B921-3CD6-48F3-76501839C128}"/>
              </a:ext>
            </a:extLst>
          </p:cNvPr>
          <p:cNvGrpSpPr/>
          <p:nvPr/>
        </p:nvGrpSpPr>
        <p:grpSpPr>
          <a:xfrm>
            <a:off x="-1150601" y="144162"/>
            <a:ext cx="7808047" cy="1645605"/>
            <a:chOff x="-1150601" y="144162"/>
            <a:chExt cx="7808047" cy="164560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1F394C9-0EE2-FA05-9775-E6280A63EE73}"/>
                </a:ext>
              </a:extLst>
            </p:cNvPr>
            <p:cNvGrpSpPr/>
            <p:nvPr/>
          </p:nvGrpSpPr>
          <p:grpSpPr>
            <a:xfrm>
              <a:off x="-1150601" y="144162"/>
              <a:ext cx="7808047" cy="1645605"/>
              <a:chOff x="-1150601" y="-981"/>
              <a:chExt cx="7808047" cy="1645605"/>
            </a:xfrm>
          </p:grpSpPr>
          <p:sp>
            <p:nvSpPr>
              <p:cNvPr id="21" name="Flowchart: Terminator 20">
                <a:extLst>
                  <a:ext uri="{FF2B5EF4-FFF2-40B4-BE49-F238E27FC236}">
                    <a16:creationId xmlns:a16="http://schemas.microsoft.com/office/drawing/2014/main" id="{D178F784-FCEE-4CFB-E88F-C4D211D56D20}"/>
                  </a:ext>
                </a:extLst>
              </p:cNvPr>
              <p:cNvSpPr/>
              <p:nvPr/>
            </p:nvSpPr>
            <p:spPr>
              <a:xfrm>
                <a:off x="-1150601" y="-981"/>
                <a:ext cx="7808047" cy="1645605"/>
              </a:xfrm>
              <a:prstGeom prst="flowChartTerminator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63500" dist="76200" dir="270000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B650513-248B-18BE-ADBF-2FA04ADF5E20}"/>
                  </a:ext>
                </a:extLst>
              </p:cNvPr>
              <p:cNvSpPr/>
              <p:nvPr/>
            </p:nvSpPr>
            <p:spPr>
              <a:xfrm>
                <a:off x="4956188" y="104688"/>
                <a:ext cx="1431325" cy="143843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76200" dir="270000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C226A60-360F-0610-12C8-C2331E117675}"/>
                </a:ext>
              </a:extLst>
            </p:cNvPr>
            <p:cNvSpPr txBox="1"/>
            <p:nvPr/>
          </p:nvSpPr>
          <p:spPr>
            <a:xfrm>
              <a:off x="5407797" y="455288"/>
              <a:ext cx="542374" cy="101566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0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Open Sans"/>
                  <a:ea typeface="Open Sans"/>
                  <a:cs typeface="Open Sans"/>
                </a:rPr>
                <a:t>1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227723F8-45CD-CCDA-3081-FEC138D92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093" y="564820"/>
              <a:ext cx="857250" cy="8001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33DA333-AE5B-B567-706E-A5C0BE488621}"/>
                </a:ext>
              </a:extLst>
            </p:cNvPr>
            <p:cNvCxnSpPr/>
            <p:nvPr/>
          </p:nvCxnSpPr>
          <p:spPr>
            <a:xfrm>
              <a:off x="1197428" y="286987"/>
              <a:ext cx="1" cy="1370017"/>
            </a:xfrm>
            <a:prstGeom prst="straightConnector1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7A4E812-B57B-721E-4A7F-7C386C234627}"/>
                </a:ext>
              </a:extLst>
            </p:cNvPr>
            <p:cNvSpPr txBox="1"/>
            <p:nvPr/>
          </p:nvSpPr>
          <p:spPr>
            <a:xfrm>
              <a:off x="1246909" y="569026"/>
              <a:ext cx="3018312" cy="107721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</a:rPr>
                <a:t>Kerüld</a:t>
              </a:r>
            </a:p>
            <a:p>
              <a:r>
                <a:rPr lang="en-US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</a:rPr>
                <a:t> a túl erős napsütést!</a:t>
              </a:r>
            </a:p>
            <a:p>
              <a:pPr algn="ctr"/>
              <a:endParaRPr lang="en-US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A3A794A-61FE-F465-310D-497EAEEA9EAA}"/>
              </a:ext>
            </a:extLst>
          </p:cNvPr>
          <p:cNvGrpSpPr/>
          <p:nvPr/>
        </p:nvGrpSpPr>
        <p:grpSpPr>
          <a:xfrm>
            <a:off x="-1713029" y="1786089"/>
            <a:ext cx="9026250" cy="1645605"/>
            <a:chOff x="-1713029" y="1786089"/>
            <a:chExt cx="9026250" cy="164560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ED4773F-27E8-8F2B-DB88-BCD97713E32D}"/>
                </a:ext>
              </a:extLst>
            </p:cNvPr>
            <p:cNvGrpSpPr/>
            <p:nvPr/>
          </p:nvGrpSpPr>
          <p:grpSpPr>
            <a:xfrm>
              <a:off x="-1713029" y="1786089"/>
              <a:ext cx="7808047" cy="1645605"/>
              <a:chOff x="-1150601" y="-981"/>
              <a:chExt cx="7808047" cy="1645605"/>
            </a:xfrm>
          </p:grpSpPr>
          <p:sp>
            <p:nvSpPr>
              <p:cNvPr id="29" name="Flowchart: Terminator 28">
                <a:extLst>
                  <a:ext uri="{FF2B5EF4-FFF2-40B4-BE49-F238E27FC236}">
                    <a16:creationId xmlns:a16="http://schemas.microsoft.com/office/drawing/2014/main" id="{F76FBBFB-5B40-8B35-A189-76156BEA0C5A}"/>
                  </a:ext>
                </a:extLst>
              </p:cNvPr>
              <p:cNvSpPr/>
              <p:nvPr/>
            </p:nvSpPr>
            <p:spPr>
              <a:xfrm>
                <a:off x="-1150601" y="-981"/>
                <a:ext cx="7808047" cy="1645605"/>
              </a:xfrm>
              <a:prstGeom prst="flowChartTerminator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63500" dist="76200" dir="270000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FA27782-6BC5-6977-A88E-B694312983D0}"/>
                  </a:ext>
                </a:extLst>
              </p:cNvPr>
              <p:cNvSpPr/>
              <p:nvPr/>
            </p:nvSpPr>
            <p:spPr>
              <a:xfrm>
                <a:off x="4956188" y="104688"/>
                <a:ext cx="1431325" cy="143843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76200" dir="270000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4B6C576-9FF8-3C29-BA6A-AC5A6CFF6CA0}"/>
                </a:ext>
              </a:extLst>
            </p:cNvPr>
            <p:cNvSpPr txBox="1"/>
            <p:nvPr/>
          </p:nvSpPr>
          <p:spPr>
            <a:xfrm>
              <a:off x="4781867" y="2097216"/>
              <a:ext cx="542374" cy="101566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60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Open Sans"/>
                  <a:ea typeface="Open Sans"/>
                  <a:cs typeface="Open Sans"/>
                </a:rPr>
                <a:t>2</a:t>
              </a: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528B3787-BC9B-F896-93D2-9C4401615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093" y="2207573"/>
              <a:ext cx="857250" cy="800100"/>
            </a:xfrm>
            <a:prstGeom prst="rect">
              <a:avLst/>
            </a:prstGeom>
          </p:spPr>
        </p:pic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6B9C02B-8B84-7A49-E090-983962BFD9C5}"/>
                </a:ext>
              </a:extLst>
            </p:cNvPr>
            <p:cNvCxnSpPr>
              <a:cxnSpLocks/>
            </p:cNvCxnSpPr>
            <p:nvPr/>
          </p:nvCxnSpPr>
          <p:spPr>
            <a:xfrm>
              <a:off x="1197428" y="1880259"/>
              <a:ext cx="9896" cy="1463040"/>
            </a:xfrm>
            <a:prstGeom prst="straightConnector1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60847D4-D086-C504-EAA7-177B832CFCDE}"/>
                </a:ext>
              </a:extLst>
            </p:cNvPr>
            <p:cNvSpPr txBox="1"/>
            <p:nvPr/>
          </p:nvSpPr>
          <p:spPr>
            <a:xfrm>
              <a:off x="1217221" y="2211779"/>
              <a:ext cx="6096000" cy="107721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</a:rPr>
                <a:t>Fedd</a:t>
              </a:r>
            </a:p>
            <a:p>
              <a:r>
                <a:rPr lang="en-US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</a:rPr>
                <a:t> el testedet!</a:t>
              </a:r>
            </a:p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7173F68-BCDB-8A64-306B-1E4E78DC2E21}"/>
              </a:ext>
            </a:extLst>
          </p:cNvPr>
          <p:cNvGrpSpPr/>
          <p:nvPr/>
        </p:nvGrpSpPr>
        <p:grpSpPr>
          <a:xfrm>
            <a:off x="-1150600" y="3428018"/>
            <a:ext cx="8444029" cy="1645605"/>
            <a:chOff x="-1150600" y="3428018"/>
            <a:chExt cx="8444029" cy="16456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4E2325D-12A0-E14F-5B76-02E40B2DDE0E}"/>
                </a:ext>
              </a:extLst>
            </p:cNvPr>
            <p:cNvGrpSpPr/>
            <p:nvPr/>
          </p:nvGrpSpPr>
          <p:grpSpPr>
            <a:xfrm>
              <a:off x="-1150600" y="3428018"/>
              <a:ext cx="8234404" cy="1645605"/>
              <a:chOff x="-1150601" y="-981"/>
              <a:chExt cx="7808047" cy="1645605"/>
            </a:xfrm>
          </p:grpSpPr>
          <p:sp>
            <p:nvSpPr>
              <p:cNvPr id="35" name="Flowchart: Terminator 34">
                <a:extLst>
                  <a:ext uri="{FF2B5EF4-FFF2-40B4-BE49-F238E27FC236}">
                    <a16:creationId xmlns:a16="http://schemas.microsoft.com/office/drawing/2014/main" id="{390E019E-B4EA-A096-C9E5-A97D572E9779}"/>
                  </a:ext>
                </a:extLst>
              </p:cNvPr>
              <p:cNvSpPr/>
              <p:nvPr/>
            </p:nvSpPr>
            <p:spPr>
              <a:xfrm>
                <a:off x="-1150601" y="-981"/>
                <a:ext cx="7808047" cy="1645605"/>
              </a:xfrm>
              <a:prstGeom prst="flowChartTermina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63500" dist="76200" dir="270000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9E4D3F7A-F7D0-6260-F1A0-B15CB3AD7DD1}"/>
                  </a:ext>
                </a:extLst>
              </p:cNvPr>
              <p:cNvSpPr/>
              <p:nvPr/>
            </p:nvSpPr>
            <p:spPr>
              <a:xfrm>
                <a:off x="5042205" y="104688"/>
                <a:ext cx="1356112" cy="143843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76200" dir="270000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EEE536D-76D3-421F-18D2-7A045ED2BB94}"/>
                </a:ext>
              </a:extLst>
            </p:cNvPr>
            <p:cNvSpPr txBox="1"/>
            <p:nvPr/>
          </p:nvSpPr>
          <p:spPr>
            <a:xfrm>
              <a:off x="5825082" y="3739144"/>
              <a:ext cx="542374" cy="101566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0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Open Sans"/>
                  <a:ea typeface="Open Sans"/>
                  <a:cs typeface="Open Sans"/>
                </a:rPr>
                <a:t>3</a:t>
              </a: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3220A171-640D-FFA3-35D9-246116193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093" y="3840430"/>
              <a:ext cx="857250" cy="800100"/>
            </a:xfrm>
            <a:prstGeom prst="rect">
              <a:avLst/>
            </a:prstGeom>
          </p:spPr>
        </p:pic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1F3DC8B4-BF0D-29CE-17A3-8ED069481223}"/>
                </a:ext>
              </a:extLst>
            </p:cNvPr>
            <p:cNvCxnSpPr>
              <a:cxnSpLocks/>
            </p:cNvCxnSpPr>
            <p:nvPr/>
          </p:nvCxnSpPr>
          <p:spPr>
            <a:xfrm>
              <a:off x="1197428" y="3513115"/>
              <a:ext cx="9896" cy="1463040"/>
            </a:xfrm>
            <a:prstGeom prst="straightConnector1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C1C3FC5-1509-0E5C-7CD0-7159F7B3561C}"/>
                </a:ext>
              </a:extLst>
            </p:cNvPr>
            <p:cNvSpPr txBox="1"/>
            <p:nvPr/>
          </p:nvSpPr>
          <p:spPr>
            <a:xfrm>
              <a:off x="1197429" y="3844637"/>
              <a:ext cx="6096000" cy="107721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</a:rPr>
                <a:t>Ismerd</a:t>
              </a:r>
              <a:endPara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</a:rPr>
                <a:t> meg a napvédőket!</a:t>
              </a:r>
            </a:p>
            <a:p>
              <a:pPr algn="ctr"/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B8F9E1C-0A6D-83DB-6306-FC509C8490F1}"/>
              </a:ext>
            </a:extLst>
          </p:cNvPr>
          <p:cNvGrpSpPr/>
          <p:nvPr/>
        </p:nvGrpSpPr>
        <p:grpSpPr>
          <a:xfrm>
            <a:off x="-1150600" y="4997376"/>
            <a:ext cx="9005475" cy="1666101"/>
            <a:chOff x="-1150600" y="4997376"/>
            <a:chExt cx="9005475" cy="166610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EC0C14F-3C97-E6CF-F009-06FAD746A6D6}"/>
                </a:ext>
              </a:extLst>
            </p:cNvPr>
            <p:cNvGrpSpPr/>
            <p:nvPr/>
          </p:nvGrpSpPr>
          <p:grpSpPr>
            <a:xfrm>
              <a:off x="-1150600" y="4997376"/>
              <a:ext cx="9005475" cy="1645605"/>
              <a:chOff x="-1150601" y="-981"/>
              <a:chExt cx="7808047" cy="1645605"/>
            </a:xfrm>
          </p:grpSpPr>
          <p:sp>
            <p:nvSpPr>
              <p:cNvPr id="32" name="Flowchart: Terminator 31">
                <a:extLst>
                  <a:ext uri="{FF2B5EF4-FFF2-40B4-BE49-F238E27FC236}">
                    <a16:creationId xmlns:a16="http://schemas.microsoft.com/office/drawing/2014/main" id="{E39F3FC1-92EE-738A-47DD-4954C5E78BE3}"/>
                  </a:ext>
                </a:extLst>
              </p:cNvPr>
              <p:cNvSpPr/>
              <p:nvPr/>
            </p:nvSpPr>
            <p:spPr>
              <a:xfrm>
                <a:off x="-1150601" y="-981"/>
                <a:ext cx="7808047" cy="1645605"/>
              </a:xfrm>
              <a:prstGeom prst="flowChartTerminator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effectLst>
                <a:outerShdw blurRad="63500" dist="76200" dir="270000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66C326-BC45-FF8A-D394-95DED51364F3}"/>
                  </a:ext>
                </a:extLst>
              </p:cNvPr>
              <p:cNvSpPr/>
              <p:nvPr/>
            </p:nvSpPr>
            <p:spPr>
              <a:xfrm>
                <a:off x="5144954" y="104689"/>
                <a:ext cx="1244576" cy="14407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76200" dir="270000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C3149B1-B37B-3D55-7846-6B5F8865E30C}"/>
                </a:ext>
              </a:extLst>
            </p:cNvPr>
            <p:cNvSpPr txBox="1"/>
            <p:nvPr/>
          </p:nvSpPr>
          <p:spPr>
            <a:xfrm>
              <a:off x="6541725" y="5308502"/>
              <a:ext cx="542374" cy="101566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6000" dirty="0">
                  <a:solidFill>
                    <a:schemeClr val="accent4">
                      <a:lumMod val="76000"/>
                    </a:schemeClr>
                  </a:solidFill>
                  <a:latin typeface="Open Sans"/>
                  <a:ea typeface="Open Sans"/>
                  <a:cs typeface="Open Sans"/>
                </a:rPr>
                <a:t>4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E4EBB6FE-C67E-50AE-47BC-2D59A4D3C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094" y="5413910"/>
              <a:ext cx="857250" cy="800100"/>
            </a:xfrm>
            <a:prstGeom prst="rect">
              <a:avLst/>
            </a:prstGeom>
          </p:spPr>
        </p:pic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87FB3D5-AE1D-669E-D967-80F796CEFD19}"/>
                </a:ext>
              </a:extLst>
            </p:cNvPr>
            <p:cNvCxnSpPr>
              <a:cxnSpLocks/>
            </p:cNvCxnSpPr>
            <p:nvPr/>
          </p:nvCxnSpPr>
          <p:spPr>
            <a:xfrm>
              <a:off x="1197428" y="5136077"/>
              <a:ext cx="0" cy="1370017"/>
            </a:xfrm>
            <a:prstGeom prst="straightConnector1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7B66F6C-6599-4076-DD54-67FBDEC7AFF2}"/>
                </a:ext>
              </a:extLst>
            </p:cNvPr>
            <p:cNvSpPr txBox="1"/>
            <p:nvPr/>
          </p:nvSpPr>
          <p:spPr>
            <a:xfrm>
              <a:off x="1217221" y="5309260"/>
              <a:ext cx="6096000" cy="135421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 dirty="0" err="1">
                  <a:solidFill>
                    <a:schemeClr val="bg1"/>
                  </a:solidFill>
                  <a:latin typeface="Open Sans"/>
                  <a:ea typeface="Open Sans"/>
                  <a:cs typeface="Open Sans"/>
                </a:rPr>
                <a:t>Védd</a:t>
              </a:r>
              <a:endParaRPr lang="en-US" sz="2800">
                <a:solidFill>
                  <a:schemeClr val="bg1"/>
                </a:solidFill>
                <a:latin typeface="Open Sans"/>
                <a:ea typeface="Open Sans"/>
                <a:cs typeface="Open Sans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</a:rPr>
                <a:t> a </a:t>
              </a:r>
              <a:r>
                <a:rPr lang="en-US" dirty="0" err="1">
                  <a:solidFill>
                    <a:schemeClr val="bg1"/>
                  </a:solidFill>
                  <a:latin typeface="Open Sans"/>
                  <a:ea typeface="Open Sans"/>
                  <a:cs typeface="Open Sans"/>
                </a:rPr>
                <a:t>gyermekeket</a:t>
              </a:r>
              <a:r>
                <a:rPr lang="en-US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</a:rPr>
                <a:t> a </a:t>
              </a:r>
              <a:r>
                <a:rPr lang="en-US" dirty="0" err="1">
                  <a:solidFill>
                    <a:schemeClr val="bg1"/>
                  </a:solidFill>
                  <a:latin typeface="Open Sans"/>
                  <a:ea typeface="Open Sans"/>
                  <a:cs typeface="Open Sans"/>
                </a:rPr>
                <a:t>közvetlen</a:t>
              </a:r>
              <a:endParaRPr lang="en-US" dirty="0">
                <a:solidFill>
                  <a:schemeClr val="bg1"/>
                </a:solidFill>
                <a:latin typeface="Open Sans"/>
                <a:ea typeface="Open Sans"/>
                <a:cs typeface="Open Sans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</a:rPr>
                <a:t> </a:t>
              </a:r>
              <a:r>
                <a:rPr lang="en-US" err="1">
                  <a:solidFill>
                    <a:schemeClr val="bg1"/>
                  </a:solidFill>
                  <a:latin typeface="Open Sans"/>
                  <a:ea typeface="Open Sans"/>
                  <a:cs typeface="Open Sans"/>
                </a:rPr>
                <a:t>napsugárzás</a:t>
              </a:r>
              <a:r>
                <a:rPr lang="en-US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</a:rPr>
                <a:t> </a:t>
              </a:r>
              <a:r>
                <a:rPr lang="en-US" err="1">
                  <a:solidFill>
                    <a:schemeClr val="bg1"/>
                  </a:solidFill>
                  <a:latin typeface="Open Sans"/>
                  <a:ea typeface="Open Sans"/>
                  <a:cs typeface="Open Sans"/>
                </a:rPr>
                <a:t>ellen</a:t>
              </a:r>
              <a:r>
                <a:rPr lang="en-US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</a:rPr>
                <a:t>!</a:t>
              </a:r>
            </a:p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Szélesvásznú</PresentationFormat>
  <Paragraphs>15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Open Sans</vt:lpstr>
      <vt:lpstr>Office-téma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/>
  <cp:lastModifiedBy>szaturnusz11@server</cp:lastModifiedBy>
  <cp:revision>252</cp:revision>
  <dcterms:created xsi:type="dcterms:W3CDTF">2026-09-20T18:45:29Z</dcterms:created>
  <dcterms:modified xsi:type="dcterms:W3CDTF">2026-09-21T09:40:21Z</dcterms:modified>
</cp:coreProperties>
</file>