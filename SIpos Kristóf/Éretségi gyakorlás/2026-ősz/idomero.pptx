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31089600" cy="173736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D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571F1-EAAA-7426-863B-E6B3249F1A38}" v="246" dt="2026-09-06T21:32:29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A6384-4131-4D0E-A380-88889EAACFFC}" type="datetimeFigureOut">
              <a:t>2026. 09. 06.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8338" y="1143000"/>
            <a:ext cx="5521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9FC79-B2A9-4F25-AFB5-F3C7B38055F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víz</a:t>
            </a:r>
            <a:r>
              <a:rPr lang="en-US" dirty="0"/>
              <a:t> a </a:t>
            </a:r>
            <a:r>
              <a:rPr lang="en-US" dirty="0" err="1"/>
              <a:t>tölcsérbe</a:t>
            </a:r>
            <a:r>
              <a:rPr lang="en-US" dirty="0"/>
              <a:t> (1) jut,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átmegy</a:t>
            </a:r>
            <a:r>
              <a:rPr lang="en-US" dirty="0"/>
              <a:t> a </a:t>
            </a:r>
            <a:r>
              <a:rPr lang="en-US" dirty="0" err="1"/>
              <a:t>hengerbe</a:t>
            </a:r>
            <a:r>
              <a:rPr lang="en-US" dirty="0"/>
              <a:t>, </a:t>
            </a:r>
            <a:r>
              <a:rPr lang="en-US" dirty="0" err="1"/>
              <a:t>amelyben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úszó</a:t>
            </a:r>
            <a:r>
              <a:rPr lang="en-US" dirty="0"/>
              <a:t> (2) </a:t>
            </a:r>
            <a:r>
              <a:rPr lang="en-US" dirty="0" err="1"/>
              <a:t>felemelkedik</a:t>
            </a:r>
            <a:r>
              <a:rPr lang="en-US" dirty="0"/>
              <a:t>. Ez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fogasléchez</a:t>
            </a:r>
            <a:r>
              <a:rPr lang="en-US" dirty="0"/>
              <a:t> van </a:t>
            </a:r>
            <a:r>
              <a:rPr lang="en-US" dirty="0" err="1"/>
              <a:t>csatlakoztatva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óramutatót</a:t>
            </a:r>
            <a:r>
              <a:rPr lang="en-US" dirty="0"/>
              <a:t> </a:t>
            </a:r>
            <a:r>
              <a:rPr lang="en-US" dirty="0" err="1"/>
              <a:t>működteti</a:t>
            </a:r>
            <a:r>
              <a:rPr lang="en-US" dirty="0"/>
              <a:t>. A </a:t>
            </a:r>
            <a:r>
              <a:rPr lang="en-US" dirty="0" err="1"/>
              <a:t>víz</a:t>
            </a:r>
            <a:r>
              <a:rPr lang="en-US" dirty="0"/>
              <a:t> </a:t>
            </a:r>
            <a:r>
              <a:rPr lang="en-US" dirty="0" err="1"/>
              <a:t>áramlási</a:t>
            </a:r>
            <a:r>
              <a:rPr lang="en-US" dirty="0"/>
              <a:t> </a:t>
            </a:r>
            <a:r>
              <a:rPr lang="en-US" dirty="0" err="1"/>
              <a:t>sebességét</a:t>
            </a:r>
            <a:r>
              <a:rPr lang="en-US" dirty="0"/>
              <a:t> a </a:t>
            </a:r>
            <a:r>
              <a:rPr lang="en-US" dirty="0" err="1"/>
              <a:t>beosztásos</a:t>
            </a:r>
            <a:r>
              <a:rPr lang="en-US" dirty="0"/>
              <a:t> </a:t>
            </a:r>
            <a:r>
              <a:rPr lang="en-US" dirty="0" err="1"/>
              <a:t>dugó</a:t>
            </a:r>
            <a:r>
              <a:rPr lang="en-US" dirty="0"/>
              <a:t> (3) </a:t>
            </a:r>
            <a:r>
              <a:rPr lang="en-US" dirty="0" err="1"/>
              <a:t>szabályozza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9FC79-B2A9-4F25-AFB5-F3C7B38055FA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78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2843319"/>
            <a:ext cx="23317200" cy="6048587"/>
          </a:xfrm>
        </p:spPr>
        <p:txBody>
          <a:bodyPr anchor="b"/>
          <a:lstStyle>
            <a:lvl1pPr algn="ctr">
              <a:defRPr sz="1073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0" y="9125163"/>
            <a:ext cx="23317200" cy="4194597"/>
          </a:xfrm>
        </p:spPr>
        <p:txBody>
          <a:bodyPr/>
          <a:lstStyle>
            <a:lvl1pPr marL="0" indent="0" algn="ctr">
              <a:buNone/>
              <a:defRPr sz="4295"/>
            </a:lvl1pPr>
            <a:lvl2pPr marL="818159" indent="0" algn="ctr">
              <a:buNone/>
              <a:defRPr sz="3579"/>
            </a:lvl2pPr>
            <a:lvl3pPr marL="1636319" indent="0" algn="ctr">
              <a:buNone/>
              <a:defRPr sz="3221"/>
            </a:lvl3pPr>
            <a:lvl4pPr marL="2454478" indent="0" algn="ctr">
              <a:buNone/>
              <a:defRPr sz="2863"/>
            </a:lvl4pPr>
            <a:lvl5pPr marL="3272638" indent="0" algn="ctr">
              <a:buNone/>
              <a:defRPr sz="2863"/>
            </a:lvl5pPr>
            <a:lvl6pPr marL="4090797" indent="0" algn="ctr">
              <a:buNone/>
              <a:defRPr sz="2863"/>
            </a:lvl6pPr>
            <a:lvl7pPr marL="4908956" indent="0" algn="ctr">
              <a:buNone/>
              <a:defRPr sz="2863"/>
            </a:lvl7pPr>
            <a:lvl8pPr marL="5727116" indent="0" algn="ctr">
              <a:buNone/>
              <a:defRPr sz="2863"/>
            </a:lvl8pPr>
            <a:lvl9pPr marL="6545275" indent="0" algn="ctr">
              <a:buNone/>
              <a:defRPr sz="286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93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253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1218" y="4331337"/>
            <a:ext cx="26814780" cy="7226934"/>
          </a:xfrm>
        </p:spPr>
        <p:txBody>
          <a:bodyPr anchor="b"/>
          <a:lstStyle>
            <a:lvl1pPr>
              <a:defRPr sz="1073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218" y="11626641"/>
            <a:ext cx="26814780" cy="3800474"/>
          </a:xfrm>
        </p:spPr>
        <p:txBody>
          <a:bodyPr/>
          <a:lstStyle>
            <a:lvl1pPr marL="0" indent="0">
              <a:buNone/>
              <a:defRPr sz="4295">
                <a:solidFill>
                  <a:schemeClr val="tx1">
                    <a:tint val="82000"/>
                  </a:schemeClr>
                </a:solidFill>
              </a:defRPr>
            </a:lvl1pPr>
            <a:lvl2pPr marL="818159" indent="0">
              <a:buNone/>
              <a:defRPr sz="3579">
                <a:solidFill>
                  <a:schemeClr val="tx1">
                    <a:tint val="82000"/>
                  </a:schemeClr>
                </a:solidFill>
              </a:defRPr>
            </a:lvl2pPr>
            <a:lvl3pPr marL="1636319" indent="0">
              <a:buNone/>
              <a:defRPr sz="3221">
                <a:solidFill>
                  <a:schemeClr val="tx1">
                    <a:tint val="82000"/>
                  </a:schemeClr>
                </a:solidFill>
              </a:defRPr>
            </a:lvl3pPr>
            <a:lvl4pPr marL="2454478" indent="0">
              <a:buNone/>
              <a:defRPr sz="2863">
                <a:solidFill>
                  <a:schemeClr val="tx1">
                    <a:tint val="82000"/>
                  </a:schemeClr>
                </a:solidFill>
              </a:defRPr>
            </a:lvl4pPr>
            <a:lvl5pPr marL="3272638" indent="0">
              <a:buNone/>
              <a:defRPr sz="2863">
                <a:solidFill>
                  <a:schemeClr val="tx1">
                    <a:tint val="82000"/>
                  </a:schemeClr>
                </a:solidFill>
              </a:defRPr>
            </a:lvl5pPr>
            <a:lvl6pPr marL="4090797" indent="0">
              <a:buNone/>
              <a:defRPr sz="2863">
                <a:solidFill>
                  <a:schemeClr val="tx1">
                    <a:tint val="82000"/>
                  </a:schemeClr>
                </a:solidFill>
              </a:defRPr>
            </a:lvl6pPr>
            <a:lvl7pPr marL="4908956" indent="0">
              <a:buNone/>
              <a:defRPr sz="2863">
                <a:solidFill>
                  <a:schemeClr val="tx1">
                    <a:tint val="82000"/>
                  </a:schemeClr>
                </a:solidFill>
              </a:defRPr>
            </a:lvl7pPr>
            <a:lvl8pPr marL="5727116" indent="0">
              <a:buNone/>
              <a:defRPr sz="2863">
                <a:solidFill>
                  <a:schemeClr val="tx1">
                    <a:tint val="82000"/>
                  </a:schemeClr>
                </a:solidFill>
              </a:defRPr>
            </a:lvl8pPr>
            <a:lvl9pPr marL="6545275" indent="0">
              <a:buNone/>
              <a:defRPr sz="286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709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37410" y="4624916"/>
            <a:ext cx="13213080" cy="1102339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39110" y="4624916"/>
            <a:ext cx="13213080" cy="1102339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470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59" y="924985"/>
            <a:ext cx="26814780" cy="335809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461" y="4258946"/>
            <a:ext cx="13152357" cy="2087244"/>
          </a:xfrm>
        </p:spPr>
        <p:txBody>
          <a:bodyPr anchor="b"/>
          <a:lstStyle>
            <a:lvl1pPr marL="0" indent="0">
              <a:buNone/>
              <a:defRPr sz="4295" b="1"/>
            </a:lvl1pPr>
            <a:lvl2pPr marL="818159" indent="0">
              <a:buNone/>
              <a:defRPr sz="3579" b="1"/>
            </a:lvl2pPr>
            <a:lvl3pPr marL="1636319" indent="0">
              <a:buNone/>
              <a:defRPr sz="3221" b="1"/>
            </a:lvl3pPr>
            <a:lvl4pPr marL="2454478" indent="0">
              <a:buNone/>
              <a:defRPr sz="2863" b="1"/>
            </a:lvl4pPr>
            <a:lvl5pPr marL="3272638" indent="0">
              <a:buNone/>
              <a:defRPr sz="2863" b="1"/>
            </a:lvl5pPr>
            <a:lvl6pPr marL="4090797" indent="0">
              <a:buNone/>
              <a:defRPr sz="2863" b="1"/>
            </a:lvl6pPr>
            <a:lvl7pPr marL="4908956" indent="0">
              <a:buNone/>
              <a:defRPr sz="2863" b="1"/>
            </a:lvl7pPr>
            <a:lvl8pPr marL="5727116" indent="0">
              <a:buNone/>
              <a:defRPr sz="2863" b="1"/>
            </a:lvl8pPr>
            <a:lvl9pPr marL="6545275" indent="0">
              <a:buNone/>
              <a:defRPr sz="286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1461" y="6346190"/>
            <a:ext cx="13152357" cy="933429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39110" y="4258946"/>
            <a:ext cx="13217129" cy="2087244"/>
          </a:xfrm>
        </p:spPr>
        <p:txBody>
          <a:bodyPr anchor="b"/>
          <a:lstStyle>
            <a:lvl1pPr marL="0" indent="0">
              <a:buNone/>
              <a:defRPr sz="4295" b="1"/>
            </a:lvl1pPr>
            <a:lvl2pPr marL="818159" indent="0">
              <a:buNone/>
              <a:defRPr sz="3579" b="1"/>
            </a:lvl2pPr>
            <a:lvl3pPr marL="1636319" indent="0">
              <a:buNone/>
              <a:defRPr sz="3221" b="1"/>
            </a:lvl3pPr>
            <a:lvl4pPr marL="2454478" indent="0">
              <a:buNone/>
              <a:defRPr sz="2863" b="1"/>
            </a:lvl4pPr>
            <a:lvl5pPr marL="3272638" indent="0">
              <a:buNone/>
              <a:defRPr sz="2863" b="1"/>
            </a:lvl5pPr>
            <a:lvl6pPr marL="4090797" indent="0">
              <a:buNone/>
              <a:defRPr sz="2863" b="1"/>
            </a:lvl6pPr>
            <a:lvl7pPr marL="4908956" indent="0">
              <a:buNone/>
              <a:defRPr sz="2863" b="1"/>
            </a:lvl7pPr>
            <a:lvl8pPr marL="5727116" indent="0">
              <a:buNone/>
              <a:defRPr sz="2863" b="1"/>
            </a:lvl8pPr>
            <a:lvl9pPr marL="6545275" indent="0">
              <a:buNone/>
              <a:defRPr sz="286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39110" y="6346190"/>
            <a:ext cx="13217129" cy="933429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249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21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0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1" y="1158240"/>
            <a:ext cx="10027204" cy="4053840"/>
          </a:xfrm>
        </p:spPr>
        <p:txBody>
          <a:bodyPr anchor="b"/>
          <a:lstStyle>
            <a:lvl1pPr>
              <a:defRPr sz="572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17129" y="2501478"/>
            <a:ext cx="15739110" cy="12346517"/>
          </a:xfrm>
        </p:spPr>
        <p:txBody>
          <a:bodyPr/>
          <a:lstStyle>
            <a:lvl1pPr>
              <a:defRPr sz="5726"/>
            </a:lvl1pPr>
            <a:lvl2pPr>
              <a:defRPr sz="5011"/>
            </a:lvl2pPr>
            <a:lvl3pPr>
              <a:defRPr sz="4295"/>
            </a:lvl3pPr>
            <a:lvl4pPr>
              <a:defRPr sz="3579"/>
            </a:lvl4pPr>
            <a:lvl5pPr>
              <a:defRPr sz="3579"/>
            </a:lvl5pPr>
            <a:lvl6pPr>
              <a:defRPr sz="3579"/>
            </a:lvl6pPr>
            <a:lvl7pPr>
              <a:defRPr sz="3579"/>
            </a:lvl7pPr>
            <a:lvl8pPr>
              <a:defRPr sz="3579"/>
            </a:lvl8pPr>
            <a:lvl9pPr>
              <a:defRPr sz="357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1" y="5212080"/>
            <a:ext cx="10027204" cy="9656023"/>
          </a:xfrm>
        </p:spPr>
        <p:txBody>
          <a:bodyPr/>
          <a:lstStyle>
            <a:lvl1pPr marL="0" indent="0">
              <a:buNone/>
              <a:defRPr sz="2863"/>
            </a:lvl1pPr>
            <a:lvl2pPr marL="818159" indent="0">
              <a:buNone/>
              <a:defRPr sz="2505"/>
            </a:lvl2pPr>
            <a:lvl3pPr marL="1636319" indent="0">
              <a:buNone/>
              <a:defRPr sz="2147"/>
            </a:lvl3pPr>
            <a:lvl4pPr marL="2454478" indent="0">
              <a:buNone/>
              <a:defRPr sz="1790"/>
            </a:lvl4pPr>
            <a:lvl5pPr marL="3272638" indent="0">
              <a:buNone/>
              <a:defRPr sz="1790"/>
            </a:lvl5pPr>
            <a:lvl6pPr marL="4090797" indent="0">
              <a:buNone/>
              <a:defRPr sz="1790"/>
            </a:lvl6pPr>
            <a:lvl7pPr marL="4908956" indent="0">
              <a:buNone/>
              <a:defRPr sz="1790"/>
            </a:lvl7pPr>
            <a:lvl8pPr marL="5727116" indent="0">
              <a:buNone/>
              <a:defRPr sz="1790"/>
            </a:lvl8pPr>
            <a:lvl9pPr marL="6545275" indent="0">
              <a:buNone/>
              <a:defRPr sz="179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450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1" y="1158240"/>
            <a:ext cx="10027204" cy="4053840"/>
          </a:xfrm>
        </p:spPr>
        <p:txBody>
          <a:bodyPr anchor="b"/>
          <a:lstStyle>
            <a:lvl1pPr>
              <a:defRPr sz="572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217129" y="2501478"/>
            <a:ext cx="15739110" cy="12346517"/>
          </a:xfrm>
        </p:spPr>
        <p:txBody>
          <a:bodyPr anchor="t"/>
          <a:lstStyle>
            <a:lvl1pPr marL="0" indent="0">
              <a:buNone/>
              <a:defRPr sz="5726"/>
            </a:lvl1pPr>
            <a:lvl2pPr marL="818159" indent="0">
              <a:buNone/>
              <a:defRPr sz="5011"/>
            </a:lvl2pPr>
            <a:lvl3pPr marL="1636319" indent="0">
              <a:buNone/>
              <a:defRPr sz="4295"/>
            </a:lvl3pPr>
            <a:lvl4pPr marL="2454478" indent="0">
              <a:buNone/>
              <a:defRPr sz="3579"/>
            </a:lvl4pPr>
            <a:lvl5pPr marL="3272638" indent="0">
              <a:buNone/>
              <a:defRPr sz="3579"/>
            </a:lvl5pPr>
            <a:lvl6pPr marL="4090797" indent="0">
              <a:buNone/>
              <a:defRPr sz="3579"/>
            </a:lvl6pPr>
            <a:lvl7pPr marL="4908956" indent="0">
              <a:buNone/>
              <a:defRPr sz="3579"/>
            </a:lvl7pPr>
            <a:lvl8pPr marL="5727116" indent="0">
              <a:buNone/>
              <a:defRPr sz="3579"/>
            </a:lvl8pPr>
            <a:lvl9pPr marL="6545275" indent="0">
              <a:buNone/>
              <a:defRPr sz="357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1" y="5212080"/>
            <a:ext cx="10027204" cy="9656023"/>
          </a:xfrm>
        </p:spPr>
        <p:txBody>
          <a:bodyPr/>
          <a:lstStyle>
            <a:lvl1pPr marL="0" indent="0">
              <a:buNone/>
              <a:defRPr sz="2863"/>
            </a:lvl1pPr>
            <a:lvl2pPr marL="818159" indent="0">
              <a:buNone/>
              <a:defRPr sz="2505"/>
            </a:lvl2pPr>
            <a:lvl3pPr marL="1636319" indent="0">
              <a:buNone/>
              <a:defRPr sz="2147"/>
            </a:lvl3pPr>
            <a:lvl4pPr marL="2454478" indent="0">
              <a:buNone/>
              <a:defRPr sz="1790"/>
            </a:lvl4pPr>
            <a:lvl5pPr marL="3272638" indent="0">
              <a:buNone/>
              <a:defRPr sz="1790"/>
            </a:lvl5pPr>
            <a:lvl6pPr marL="4090797" indent="0">
              <a:buNone/>
              <a:defRPr sz="1790"/>
            </a:lvl6pPr>
            <a:lvl7pPr marL="4908956" indent="0">
              <a:buNone/>
              <a:defRPr sz="1790"/>
            </a:lvl7pPr>
            <a:lvl8pPr marL="5727116" indent="0">
              <a:buNone/>
              <a:defRPr sz="1790"/>
            </a:lvl8pPr>
            <a:lvl9pPr marL="6545275" indent="0">
              <a:buNone/>
              <a:defRPr sz="179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489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875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248495" y="924983"/>
            <a:ext cx="6703695" cy="1472332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7410" y="924983"/>
            <a:ext cx="19722465" cy="1472332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979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D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7410" y="924985"/>
            <a:ext cx="26814780" cy="3358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7410" y="4624916"/>
            <a:ext cx="26814780" cy="11023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37410" y="16102755"/>
            <a:ext cx="6995160" cy="924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4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98430" y="16102755"/>
            <a:ext cx="10492740" cy="924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4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957030" y="16102755"/>
            <a:ext cx="6995160" cy="924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4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2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31081827" cy="1737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6EDD3C-5836-46F0-8A74-667CF35F5B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49" b="18041"/>
          <a:stretch>
            <a:fillRect/>
          </a:stretch>
        </p:blipFill>
        <p:spPr>
          <a:xfrm>
            <a:off x="-7769" y="10"/>
            <a:ext cx="31089596" cy="173735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92591"/>
            <a:ext cx="31089597" cy="801077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850943" y="14946333"/>
            <a:ext cx="9368640" cy="1714439"/>
          </a:xfr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hu-HU"/>
            </a:defPPr>
            <a:lvl1pPr marL="0" algn="l" defTabSz="2326234" rtl="0" eaLnBrk="1" latinLnBrk="0" hangingPunct="1">
              <a:defRPr sz="4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63117" algn="l" defTabSz="2326234" rtl="0" eaLnBrk="1" latinLnBrk="0" hangingPunct="1">
              <a:defRPr sz="4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326234" algn="l" defTabSz="2326234" rtl="0" eaLnBrk="1" latinLnBrk="0" hangingPunct="1">
              <a:defRPr sz="4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89350" algn="l" defTabSz="2326234" rtl="0" eaLnBrk="1" latinLnBrk="0" hangingPunct="1">
              <a:defRPr sz="4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52467" algn="l" defTabSz="2326234" rtl="0" eaLnBrk="1" latinLnBrk="0" hangingPunct="1">
              <a:defRPr sz="4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15584" algn="l" defTabSz="2326234" rtl="0" eaLnBrk="1" latinLnBrk="0" hangingPunct="1">
              <a:defRPr sz="4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78701" algn="l" defTabSz="2326234" rtl="0" eaLnBrk="1" latinLnBrk="0" hangingPunct="1">
              <a:defRPr sz="4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141818" algn="l" defTabSz="2326234" rtl="0" eaLnBrk="1" latinLnBrk="0" hangingPunct="1">
              <a:defRPr sz="4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04934" algn="l" defTabSz="2326234" rtl="0" eaLnBrk="1" latinLnBrk="0" hangingPunct="1">
              <a:defRPr sz="4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sz="8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Régi </a:t>
            </a:r>
            <a:r>
              <a:rPr lang="en-US" sz="8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időmérő</a:t>
            </a:r>
            <a:r>
              <a:rPr lang="en-US" sz="8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80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eszközök</a:t>
            </a:r>
            <a:endParaRPr lang="en-US" sz="8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04115-0949-03F5-C40A-15667BF4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00" dirty="0" err="1">
                <a:ea typeface="+mj-lt"/>
                <a:cs typeface="+mj-lt"/>
              </a:rPr>
              <a:t>Napóra</a:t>
            </a:r>
            <a:r>
              <a:rPr lang="en-US" sz="4900" dirty="0">
                <a:ea typeface="+mj-lt"/>
                <a:cs typeface="+mj-lt"/>
              </a:rPr>
              <a:t> (</a:t>
            </a:r>
            <a:r>
              <a:rPr lang="en-US" sz="4900" dirty="0" err="1">
                <a:ea typeface="+mj-lt"/>
                <a:cs typeface="+mj-lt"/>
              </a:rPr>
              <a:t>árnyékóra</a:t>
            </a:r>
            <a:r>
              <a:rPr lang="en-US" sz="4900" dirty="0">
                <a:ea typeface="+mj-lt"/>
                <a:cs typeface="+mj-lt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D950F-89D6-D722-90A0-A04D91B5E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dirty="0">
                <a:ea typeface="+mn-lt"/>
                <a:cs typeface="+mn-lt"/>
              </a:rPr>
              <a:t>Kr. e. 5. </a:t>
            </a:r>
            <a:r>
              <a:rPr lang="en-US" sz="3100" dirty="0" err="1">
                <a:ea typeface="+mn-lt"/>
                <a:cs typeface="+mn-lt"/>
              </a:rPr>
              <a:t>évezred</a:t>
            </a:r>
            <a:endParaRPr lang="en-US" sz="3100"/>
          </a:p>
          <a:p>
            <a:r>
              <a:rPr lang="en-US" sz="3100" dirty="0">
                <a:ea typeface="+mn-lt"/>
                <a:cs typeface="+mn-lt"/>
              </a:rPr>
              <a:t>A </a:t>
            </a:r>
            <a:r>
              <a:rPr lang="en-US" sz="3100" dirty="0" err="1">
                <a:ea typeface="+mn-lt"/>
                <a:cs typeface="+mn-lt"/>
              </a:rPr>
              <a:t>legpontosabb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eszköz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még</a:t>
            </a:r>
            <a:r>
              <a:rPr lang="en-US" sz="3100" dirty="0">
                <a:ea typeface="+mn-lt"/>
                <a:cs typeface="+mn-lt"/>
              </a:rPr>
              <a:t> a </a:t>
            </a:r>
            <a:r>
              <a:rPr lang="en-US" sz="3100" dirty="0" err="1">
                <a:ea typeface="+mn-lt"/>
                <a:cs typeface="+mn-lt"/>
              </a:rPr>
              <a:t>középkorban</a:t>
            </a:r>
            <a:r>
              <a:rPr lang="en-US" sz="3100" dirty="0">
                <a:ea typeface="+mn-lt"/>
                <a:cs typeface="+mn-lt"/>
              </a:rPr>
              <a:t> is</a:t>
            </a:r>
            <a:endParaRPr lang="en-US" sz="3100"/>
          </a:p>
          <a:p>
            <a:r>
              <a:rPr lang="en-US" sz="3100" dirty="0">
                <a:ea typeface="+mn-lt"/>
                <a:cs typeface="+mn-lt"/>
              </a:rPr>
              <a:t>A </a:t>
            </a:r>
            <a:r>
              <a:rPr lang="en-US" sz="3100" dirty="0" err="1">
                <a:ea typeface="+mn-lt"/>
                <a:cs typeface="+mn-lt"/>
              </a:rPr>
              <a:t>helyi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időt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mutatja</a:t>
            </a:r>
            <a:endParaRPr lang="en-US" sz="3100"/>
          </a:p>
          <a:p>
            <a:r>
              <a:rPr lang="en-US" sz="3100" dirty="0" err="1">
                <a:ea typeface="+mn-lt"/>
                <a:cs typeface="+mn-lt"/>
              </a:rPr>
              <a:t>Részei</a:t>
            </a:r>
            <a:endParaRPr lang="en-US" sz="3100"/>
          </a:p>
          <a:p>
            <a:pPr lvl="1"/>
            <a:r>
              <a:rPr lang="en-US" sz="2500" dirty="0" err="1">
                <a:ea typeface="+mn-lt"/>
                <a:cs typeface="+mn-lt"/>
              </a:rPr>
              <a:t>árnyékvető</a:t>
            </a:r>
            <a:r>
              <a:rPr lang="en-US" sz="2500" dirty="0">
                <a:ea typeface="+mn-lt"/>
                <a:cs typeface="+mn-lt"/>
              </a:rPr>
              <a:t> (</a:t>
            </a:r>
            <a:r>
              <a:rPr lang="en-US" sz="2500" dirty="0" err="1">
                <a:ea typeface="+mn-lt"/>
                <a:cs typeface="+mn-lt"/>
              </a:rPr>
              <a:t>gnómon</a:t>
            </a:r>
            <a:r>
              <a:rPr lang="en-US" sz="2500" dirty="0">
                <a:ea typeface="+mn-lt"/>
                <a:cs typeface="+mn-lt"/>
              </a:rPr>
              <a:t>)</a:t>
            </a:r>
            <a:endParaRPr lang="en-US" sz="2500"/>
          </a:p>
          <a:p>
            <a:pPr lvl="1"/>
            <a:r>
              <a:rPr lang="en-US" sz="2500" dirty="0" err="1">
                <a:ea typeface="+mn-lt"/>
                <a:cs typeface="+mn-lt"/>
              </a:rPr>
              <a:t>számlap</a:t>
            </a:r>
            <a:endParaRPr lang="en-US" sz="2500"/>
          </a:p>
          <a:p>
            <a:r>
              <a:rPr lang="en-US" sz="3100" err="1">
                <a:ea typeface="+mn-lt"/>
                <a:cs typeface="+mn-lt"/>
              </a:rPr>
              <a:t>Típusai</a:t>
            </a:r>
            <a:endParaRPr lang="en-US" sz="3100"/>
          </a:p>
          <a:p>
            <a:pPr lvl="1"/>
            <a:r>
              <a:rPr lang="en-US" sz="2500" dirty="0" err="1">
                <a:ea typeface="+mn-lt"/>
                <a:cs typeface="+mn-lt"/>
              </a:rPr>
              <a:t>rögzített</a:t>
            </a:r>
            <a:endParaRPr lang="en-US" sz="2500"/>
          </a:p>
          <a:p>
            <a:pPr lvl="1"/>
            <a:r>
              <a:rPr lang="en-US" sz="2500" dirty="0" err="1">
                <a:ea typeface="+mn-lt"/>
                <a:cs typeface="+mn-lt"/>
              </a:rPr>
              <a:t>hordozható</a:t>
            </a:r>
            <a:endParaRPr lang="en-US" sz="25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5E893D-8345-0D69-53D8-705950E7B8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63" t="-1238" r="10497"/>
          <a:stretch>
            <a:fillRect/>
          </a:stretch>
        </p:blipFill>
        <p:spPr>
          <a:xfrm>
            <a:off x="17455997" y="3592094"/>
            <a:ext cx="10933993" cy="1019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641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3BA42-3066-DDF8-67BB-CA07A26F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00" dirty="0" err="1">
                <a:ea typeface="+mj-lt"/>
                <a:cs typeface="+mj-lt"/>
              </a:rPr>
              <a:t>Vízóra</a:t>
            </a:r>
            <a:r>
              <a:rPr lang="en-US" sz="4900" dirty="0">
                <a:ea typeface="+mj-lt"/>
                <a:cs typeface="+mj-lt"/>
              </a:rPr>
              <a:t> (</a:t>
            </a:r>
            <a:r>
              <a:rPr lang="en-US" sz="4900" dirty="0" err="1">
                <a:ea typeface="+mj-lt"/>
                <a:cs typeface="+mj-lt"/>
              </a:rPr>
              <a:t>klepszüdra</a:t>
            </a:r>
            <a:r>
              <a:rPr lang="en-US" sz="4900" dirty="0">
                <a:ea typeface="+mj-lt"/>
                <a:cs typeface="+mj-lt"/>
              </a:rPr>
              <a:t>)</a:t>
            </a:r>
            <a:endParaRPr lang="en-US" sz="49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2F2F9-8567-0CDC-CF6A-743A0564F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dirty="0" err="1">
                <a:ea typeface="+mn-lt"/>
                <a:cs typeface="+mn-lt"/>
              </a:rPr>
              <a:t>Mezopotámia</a:t>
            </a:r>
            <a:r>
              <a:rPr lang="en-US" sz="3100" dirty="0">
                <a:ea typeface="+mn-lt"/>
                <a:cs typeface="+mn-lt"/>
              </a:rPr>
              <a:t>, </a:t>
            </a:r>
            <a:r>
              <a:rPr lang="en-US" sz="3100" dirty="0" err="1">
                <a:ea typeface="+mn-lt"/>
                <a:cs typeface="+mn-lt"/>
              </a:rPr>
              <a:t>Egyiptom</a:t>
            </a:r>
            <a:r>
              <a:rPr lang="en-US" sz="3100" dirty="0">
                <a:ea typeface="+mn-lt"/>
                <a:cs typeface="+mn-lt"/>
              </a:rPr>
              <a:t>, </a:t>
            </a:r>
            <a:r>
              <a:rPr lang="en-US" sz="3100" dirty="0" err="1">
                <a:ea typeface="+mn-lt"/>
                <a:cs typeface="+mn-lt"/>
              </a:rPr>
              <a:t>Távol</a:t>
            </a:r>
            <a:r>
              <a:rPr lang="en-US" sz="3100" dirty="0">
                <a:ea typeface="+mn-lt"/>
                <a:cs typeface="+mn-lt"/>
              </a:rPr>
              <a:t>-Kelet</a:t>
            </a:r>
          </a:p>
          <a:p>
            <a:r>
              <a:rPr lang="en-US" sz="3100" dirty="0">
                <a:ea typeface="+mn-lt"/>
                <a:cs typeface="+mn-lt"/>
              </a:rPr>
              <a:t>A </a:t>
            </a:r>
            <a:r>
              <a:rPr lang="en-US" sz="3100" dirty="0" err="1">
                <a:ea typeface="+mn-lt"/>
                <a:cs typeface="+mn-lt"/>
              </a:rPr>
              <a:t>víz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átcsöpög</a:t>
            </a:r>
            <a:r>
              <a:rPr lang="en-US" sz="3100" dirty="0">
                <a:ea typeface="+mn-lt"/>
                <a:cs typeface="+mn-lt"/>
              </a:rPr>
              <a:t> a </a:t>
            </a:r>
            <a:r>
              <a:rPr lang="en-US" sz="3100" dirty="0" err="1">
                <a:ea typeface="+mn-lt"/>
                <a:cs typeface="+mn-lt"/>
              </a:rPr>
              <a:t>másik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edénybe</a:t>
            </a:r>
          </a:p>
          <a:p>
            <a:r>
              <a:rPr lang="en-US" sz="3100" dirty="0" err="1">
                <a:ea typeface="+mn-lt"/>
                <a:cs typeface="+mn-lt"/>
              </a:rPr>
              <a:t>Tölcsér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alak</a:t>
            </a:r>
            <a:r>
              <a:rPr lang="en-US" sz="3100" dirty="0">
                <a:ea typeface="+mn-lt"/>
                <a:cs typeface="+mn-lt"/>
              </a:rPr>
              <a:t>: </a:t>
            </a:r>
            <a:r>
              <a:rPr lang="en-US" sz="3100" dirty="0" err="1">
                <a:ea typeface="+mn-lt"/>
                <a:cs typeface="+mn-lt"/>
              </a:rPr>
              <a:t>egyenletesen</a:t>
            </a:r>
            <a:endParaRPr lang="en-US" sz="3100" dirty="0">
              <a:ea typeface="+mn-lt"/>
              <a:cs typeface="+mn-lt"/>
            </a:endParaRPr>
          </a:p>
          <a:p>
            <a:r>
              <a:rPr lang="en-US" sz="3100" dirty="0" err="1">
                <a:ea typeface="+mn-lt"/>
                <a:cs typeface="+mn-lt"/>
              </a:rPr>
              <a:t>Ókori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Görögország</a:t>
            </a:r>
            <a:r>
              <a:rPr lang="en-US" sz="3100" dirty="0">
                <a:ea typeface="+mn-lt"/>
                <a:cs typeface="+mn-lt"/>
              </a:rPr>
              <a:t>: </a:t>
            </a:r>
            <a:r>
              <a:rPr lang="en-US" sz="3100" dirty="0" err="1">
                <a:ea typeface="+mn-lt"/>
                <a:cs typeface="+mn-lt"/>
              </a:rPr>
              <a:t>beszédek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hossza</a:t>
            </a:r>
            <a:endParaRPr lang="en-US" sz="3100" dirty="0">
              <a:ea typeface="+mn-lt"/>
              <a:cs typeface="+mn-lt"/>
            </a:endParaRPr>
          </a:p>
          <a:p>
            <a:r>
              <a:rPr lang="en-US" sz="3100" dirty="0">
                <a:ea typeface="+mn-lt"/>
                <a:cs typeface="+mn-lt"/>
              </a:rPr>
              <a:t>Galilei: </a:t>
            </a:r>
            <a:r>
              <a:rPr lang="en-US" sz="3100" dirty="0" err="1">
                <a:ea typeface="+mn-lt"/>
                <a:cs typeface="+mn-lt"/>
              </a:rPr>
              <a:t>kísérleteihez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időméréshez</a:t>
            </a:r>
            <a:endParaRPr lang="en-US" sz="3100" dirty="0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7662E-237A-DC21-3D2D-94B199D39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3464" y="2596683"/>
            <a:ext cx="7327623" cy="1130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32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F5D1A-A0E3-8E8A-1C1D-68C2BA369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900" dirty="0" err="1">
                <a:ea typeface="+mj-lt"/>
                <a:cs typeface="+mj-lt"/>
              </a:rPr>
              <a:t>Gyertyaóra</a:t>
            </a:r>
            <a:endParaRPr lang="en-US" sz="49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47489-DB05-7D6F-69D7-CD7BC076D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dirty="0" err="1">
                <a:ea typeface="+mn-lt"/>
                <a:cs typeface="+mn-lt"/>
              </a:rPr>
              <a:t>Kb</a:t>
            </a:r>
            <a:r>
              <a:rPr lang="en-US" sz="3100" dirty="0">
                <a:ea typeface="+mn-lt"/>
                <a:cs typeface="+mn-lt"/>
              </a:rPr>
              <a:t>. 900 </a:t>
            </a:r>
            <a:r>
              <a:rPr lang="en-US" sz="3100" dirty="0" err="1">
                <a:ea typeface="+mn-lt"/>
                <a:cs typeface="+mn-lt"/>
              </a:rPr>
              <a:t>éve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terjedt</a:t>
            </a:r>
            <a:r>
              <a:rPr lang="en-US" sz="3100" dirty="0">
                <a:ea typeface="+mn-lt"/>
                <a:cs typeface="+mn-lt"/>
              </a:rPr>
              <a:t> el</a:t>
            </a:r>
            <a:endParaRPr lang="en-US" sz="3100"/>
          </a:p>
          <a:p>
            <a:r>
              <a:rPr lang="en-US" sz="3100" dirty="0">
                <a:ea typeface="+mn-lt"/>
                <a:cs typeface="+mn-lt"/>
              </a:rPr>
              <a:t>A </a:t>
            </a:r>
            <a:r>
              <a:rPr lang="en-US" sz="3100" dirty="0" err="1">
                <a:ea typeface="+mn-lt"/>
                <a:cs typeface="+mn-lt"/>
              </a:rPr>
              <a:t>gyertya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egyenletesen</a:t>
            </a:r>
            <a:r>
              <a:rPr lang="en-US" sz="3100" dirty="0">
                <a:ea typeface="+mn-lt"/>
                <a:cs typeface="+mn-lt"/>
              </a:rPr>
              <a:t> fogy</a:t>
            </a:r>
          </a:p>
          <a:p>
            <a:r>
              <a:rPr lang="en-US" sz="3100" dirty="0" err="1">
                <a:ea typeface="+mn-lt"/>
                <a:cs typeface="+mn-lt"/>
              </a:rPr>
              <a:t>Beosztás</a:t>
            </a:r>
            <a:r>
              <a:rPr lang="en-US" sz="3100" dirty="0">
                <a:ea typeface="+mn-lt"/>
                <a:cs typeface="+mn-lt"/>
              </a:rPr>
              <a:t> a </a:t>
            </a:r>
            <a:r>
              <a:rPr lang="en-US" sz="3100" dirty="0" err="1">
                <a:ea typeface="+mn-lt"/>
                <a:cs typeface="+mn-lt"/>
              </a:rPr>
              <a:t>gyertyán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vagy</a:t>
            </a:r>
            <a:r>
              <a:rPr lang="en-US" sz="3100" dirty="0">
                <a:ea typeface="+mn-lt"/>
                <a:cs typeface="+mn-lt"/>
              </a:rPr>
              <a:t> a </a:t>
            </a:r>
            <a:r>
              <a:rPr lang="en-US" sz="3100" dirty="0" err="1">
                <a:ea typeface="+mn-lt"/>
                <a:cs typeface="+mn-lt"/>
              </a:rPr>
              <a:t>gyertya</a:t>
            </a:r>
            <a:r>
              <a:rPr lang="en-US" sz="3100" dirty="0">
                <a:ea typeface="+mn-lt"/>
                <a:cs typeface="+mn-lt"/>
              </a:rPr>
              <a:t> mögött</a:t>
            </a:r>
          </a:p>
          <a:p>
            <a:r>
              <a:rPr lang="en-US" sz="3100" dirty="0" err="1">
                <a:ea typeface="+mn-lt"/>
                <a:cs typeface="+mn-lt"/>
              </a:rPr>
              <a:t>Időzítés</a:t>
            </a:r>
            <a:r>
              <a:rPr lang="en-US" sz="3100" dirty="0">
                <a:ea typeface="+mn-lt"/>
                <a:cs typeface="+mn-lt"/>
              </a:rPr>
              <a:t>:</a:t>
            </a:r>
            <a:endParaRPr lang="en-US" sz="3100"/>
          </a:p>
          <a:p>
            <a:pPr lvl="1"/>
            <a:r>
              <a:rPr lang="en-US" sz="2500" dirty="0" err="1">
                <a:ea typeface="+mn-lt"/>
                <a:cs typeface="+mn-lt"/>
              </a:rPr>
              <a:t>szeg</a:t>
            </a:r>
            <a:r>
              <a:rPr lang="en-US" sz="2500" dirty="0">
                <a:ea typeface="+mn-lt"/>
                <a:cs typeface="+mn-lt"/>
              </a:rPr>
              <a:t> a </a:t>
            </a:r>
            <a:r>
              <a:rPr lang="en-US" sz="2500" dirty="0" err="1">
                <a:ea typeface="+mn-lt"/>
                <a:cs typeface="+mn-lt"/>
              </a:rPr>
              <a:t>megfelelő</a:t>
            </a:r>
            <a:r>
              <a:rPr lang="en-US" sz="2500" dirty="0">
                <a:ea typeface="+mn-lt"/>
                <a:cs typeface="+mn-lt"/>
              </a:rPr>
              <a:t> </a:t>
            </a:r>
            <a:r>
              <a:rPr lang="en-US" sz="2500" dirty="0" err="1">
                <a:ea typeface="+mn-lt"/>
                <a:cs typeface="+mn-lt"/>
              </a:rPr>
              <a:t>osztásnál</a:t>
            </a:r>
            <a:endParaRPr lang="en-US" sz="2500"/>
          </a:p>
          <a:p>
            <a:pPr lvl="1"/>
            <a:r>
              <a:rPr lang="en-US" sz="2500" dirty="0" err="1">
                <a:ea typeface="+mn-lt"/>
                <a:cs typeface="+mn-lt"/>
              </a:rPr>
              <a:t>amikor</a:t>
            </a:r>
            <a:r>
              <a:rPr lang="en-US" sz="2500" dirty="0">
                <a:ea typeface="+mn-lt"/>
                <a:cs typeface="+mn-lt"/>
              </a:rPr>
              <a:t> </a:t>
            </a:r>
            <a:r>
              <a:rPr lang="en-US" sz="2500" dirty="0" err="1">
                <a:ea typeface="+mn-lt"/>
                <a:cs typeface="+mn-lt"/>
              </a:rPr>
              <a:t>odáig</a:t>
            </a:r>
            <a:r>
              <a:rPr lang="en-US" sz="2500" dirty="0">
                <a:ea typeface="+mn-lt"/>
                <a:cs typeface="+mn-lt"/>
              </a:rPr>
              <a:t> </a:t>
            </a:r>
            <a:r>
              <a:rPr lang="en-US" sz="2500" dirty="0" err="1">
                <a:ea typeface="+mn-lt"/>
                <a:cs typeface="+mn-lt"/>
              </a:rPr>
              <a:t>leég</a:t>
            </a:r>
            <a:r>
              <a:rPr lang="en-US" sz="2500" dirty="0">
                <a:ea typeface="+mn-lt"/>
                <a:cs typeface="+mn-lt"/>
              </a:rPr>
              <a:t>, a </a:t>
            </a:r>
            <a:r>
              <a:rPr lang="en-US" sz="2500" dirty="0" err="1">
                <a:ea typeface="+mn-lt"/>
                <a:cs typeface="+mn-lt"/>
              </a:rPr>
              <a:t>szeg</a:t>
            </a:r>
            <a:r>
              <a:rPr lang="en-US" sz="2500" dirty="0">
                <a:ea typeface="+mn-lt"/>
                <a:cs typeface="+mn-lt"/>
              </a:rPr>
              <a:t> </a:t>
            </a:r>
            <a:r>
              <a:rPr lang="en-US" sz="2500" dirty="0" err="1">
                <a:ea typeface="+mn-lt"/>
                <a:cs typeface="+mn-lt"/>
              </a:rPr>
              <a:t>fémtálkába</a:t>
            </a:r>
            <a:r>
              <a:rPr lang="en-US" sz="2500" dirty="0">
                <a:ea typeface="+mn-lt"/>
                <a:cs typeface="+mn-lt"/>
              </a:rPr>
              <a:t> </a:t>
            </a:r>
            <a:r>
              <a:rPr lang="en-US" sz="2500" dirty="0" err="1">
                <a:ea typeface="+mn-lt"/>
                <a:cs typeface="+mn-lt"/>
              </a:rPr>
              <a:t>esik</a:t>
            </a:r>
            <a:endParaRPr lang="en-US" sz="25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F060A7-3914-2117-7012-0F8A06AB8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5499" y="3783330"/>
            <a:ext cx="6765918" cy="902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55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CF3B-94B9-0C05-9E9F-49D9861B3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900" dirty="0" err="1">
                <a:ea typeface="+mj-lt"/>
                <a:cs typeface="+mj-lt"/>
              </a:rPr>
              <a:t>Homokóra</a:t>
            </a:r>
            <a:endParaRPr lang="en-US" sz="49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2A29D-5BDF-9930-4B9C-A81BC36EB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dirty="0" err="1">
                <a:ea typeface="+mn-lt"/>
                <a:cs typeface="+mn-lt"/>
              </a:rPr>
              <a:t>Első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feljegyzés</a:t>
            </a:r>
            <a:r>
              <a:rPr lang="en-US" sz="3100" dirty="0">
                <a:ea typeface="+mn-lt"/>
                <a:cs typeface="+mn-lt"/>
              </a:rPr>
              <a:t>: XIV. </a:t>
            </a:r>
            <a:r>
              <a:rPr lang="en-US" sz="3100" dirty="0" err="1">
                <a:ea typeface="+mn-lt"/>
                <a:cs typeface="+mn-lt"/>
              </a:rPr>
              <a:t>század</a:t>
            </a:r>
            <a:endParaRPr lang="en-US" sz="3100"/>
          </a:p>
          <a:p>
            <a:r>
              <a:rPr lang="en-US" sz="3100" dirty="0">
                <a:ea typeface="+mn-lt"/>
                <a:cs typeface="+mn-lt"/>
              </a:rPr>
              <a:t>Két </a:t>
            </a:r>
            <a:r>
              <a:rPr lang="en-US" sz="3100" dirty="0" err="1">
                <a:ea typeface="+mn-lt"/>
                <a:cs typeface="+mn-lt"/>
              </a:rPr>
              <a:t>vékony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csővel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összekötött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edény</a:t>
            </a:r>
            <a:endParaRPr lang="en-US" sz="3100"/>
          </a:p>
          <a:p>
            <a:r>
              <a:rPr lang="en-US" sz="3100" dirty="0">
                <a:ea typeface="+mn-lt"/>
                <a:cs typeface="+mn-lt"/>
              </a:rPr>
              <a:t>A </a:t>
            </a:r>
            <a:r>
              <a:rPr lang="en-US" sz="3100" dirty="0" err="1">
                <a:ea typeface="+mn-lt"/>
                <a:cs typeface="+mn-lt"/>
              </a:rPr>
              <a:t>felső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tartályból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homok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pereg</a:t>
            </a:r>
            <a:endParaRPr lang="en-US" sz="3100"/>
          </a:p>
          <a:p>
            <a:r>
              <a:rPr lang="en-US" sz="3100" dirty="0" err="1">
                <a:ea typeface="+mn-lt"/>
                <a:cs typeface="+mn-lt"/>
              </a:rPr>
              <a:t>Időtartamot</a:t>
            </a:r>
            <a:r>
              <a:rPr lang="en-US" sz="3100" dirty="0">
                <a:ea typeface="+mn-lt"/>
                <a:cs typeface="+mn-lt"/>
              </a:rPr>
              <a:t> </a:t>
            </a:r>
            <a:r>
              <a:rPr lang="en-US" sz="3100" dirty="0" err="1">
                <a:ea typeface="+mn-lt"/>
                <a:cs typeface="+mn-lt"/>
              </a:rPr>
              <a:t>mér</a:t>
            </a:r>
            <a:endParaRPr lang="en-US" sz="3100"/>
          </a:p>
          <a:p>
            <a:r>
              <a:rPr lang="en-US" sz="3100" dirty="0" err="1">
                <a:ea typeface="+mn-lt"/>
                <a:cs typeface="+mn-lt"/>
              </a:rPr>
              <a:t>Újraindítás</a:t>
            </a:r>
            <a:r>
              <a:rPr lang="en-US" sz="3100" dirty="0">
                <a:ea typeface="+mn-lt"/>
                <a:cs typeface="+mn-lt"/>
              </a:rPr>
              <a:t>: </a:t>
            </a:r>
            <a:r>
              <a:rPr lang="en-US" sz="3100" dirty="0" err="1">
                <a:ea typeface="+mn-lt"/>
                <a:cs typeface="+mn-lt"/>
              </a:rPr>
              <a:t>megfordítják</a:t>
            </a:r>
            <a:endParaRPr lang="en-US" sz="31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EC6087-BE62-00D8-223B-0906CB155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448" y="2611755"/>
            <a:ext cx="5562334" cy="122369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33319E-D81D-4640-B198-6040912E2383}"/>
              </a:ext>
            </a:extLst>
          </p:cNvPr>
          <p:cNvSpPr txBox="1"/>
          <p:nvPr/>
        </p:nvSpPr>
        <p:spPr>
          <a:xfrm>
            <a:off x="2142652" y="7557515"/>
            <a:ext cx="126878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 err="1">
                <a:ea typeface="+mn-lt"/>
                <a:cs typeface="+mn-lt"/>
              </a:rPr>
              <a:t>világ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legnagyobb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homokóráját</a:t>
            </a:r>
            <a:r>
              <a:rPr lang="en-US" dirty="0">
                <a:ea typeface="+mn-lt"/>
                <a:cs typeface="+mn-lt"/>
              </a:rPr>
              <a:t>, a </a:t>
            </a:r>
            <a:r>
              <a:rPr lang="en-US" dirty="0" err="1">
                <a:ea typeface="+mn-lt"/>
                <a:cs typeface="+mn-lt"/>
              </a:rPr>
              <a:t>Világórát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hazánk</a:t>
            </a:r>
            <a:r>
              <a:rPr lang="en-US" dirty="0">
                <a:ea typeface="+mn-lt"/>
                <a:cs typeface="+mn-lt"/>
              </a:rPr>
              <a:t> EU-s </a:t>
            </a:r>
            <a:r>
              <a:rPr lang="en-US" dirty="0" err="1">
                <a:ea typeface="+mn-lt"/>
                <a:cs typeface="+mn-lt"/>
              </a:rPr>
              <a:t>csatlakozása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alkalmából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Budapesten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adták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át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7A3175-0648-286E-BE37-55D080E96B2B}"/>
              </a:ext>
            </a:extLst>
          </p:cNvPr>
          <p:cNvCxnSpPr/>
          <p:nvPr/>
        </p:nvCxnSpPr>
        <p:spPr>
          <a:xfrm flipV="1">
            <a:off x="24528250" y="4753409"/>
            <a:ext cx="3609136" cy="22990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AD2013D-80B1-B893-EDE9-D126266ABBA7}"/>
              </a:ext>
            </a:extLst>
          </p:cNvPr>
          <p:cNvCxnSpPr/>
          <p:nvPr/>
        </p:nvCxnSpPr>
        <p:spPr>
          <a:xfrm flipV="1">
            <a:off x="24164583" y="8812804"/>
            <a:ext cx="4019846" cy="2895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F2A53E-4558-3AC0-383B-EC3E33E10FF8}"/>
              </a:ext>
            </a:extLst>
          </p:cNvPr>
          <p:cNvCxnSpPr/>
          <p:nvPr/>
        </p:nvCxnSpPr>
        <p:spPr>
          <a:xfrm>
            <a:off x="25030290" y="10997071"/>
            <a:ext cx="3141909" cy="6454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5DC0AD-C216-C677-F1C3-52D1B709E84E}"/>
              </a:ext>
            </a:extLst>
          </p:cNvPr>
          <p:cNvCxnSpPr/>
          <p:nvPr/>
        </p:nvCxnSpPr>
        <p:spPr>
          <a:xfrm>
            <a:off x="25317170" y="13674618"/>
            <a:ext cx="2865937" cy="19125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9D6EBF5-AB5F-DDAC-6ABB-23D99490479F}"/>
              </a:ext>
            </a:extLst>
          </p:cNvPr>
          <p:cNvSpPr txBox="1"/>
          <p:nvPr/>
        </p:nvSpPr>
        <p:spPr>
          <a:xfrm>
            <a:off x="28196108" y="4431494"/>
            <a:ext cx="22950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Száraz </a:t>
            </a:r>
            <a:r>
              <a:rPr lang="en-US" dirty="0" err="1"/>
              <a:t>homok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BDC5D-2032-8D24-C5E4-B8B311633231}"/>
              </a:ext>
            </a:extLst>
          </p:cNvPr>
          <p:cNvSpPr txBox="1"/>
          <p:nvPr/>
        </p:nvSpPr>
        <p:spPr>
          <a:xfrm>
            <a:off x="28185971" y="8557250"/>
            <a:ext cx="16017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>
                <a:solidFill>
                  <a:srgbClr val="000000"/>
                </a:solidFill>
              </a:rPr>
              <a:t>nyílás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6E5810-4562-0805-82D3-B04EECDD0E18}"/>
              </a:ext>
            </a:extLst>
          </p:cNvPr>
          <p:cNvSpPr txBox="1"/>
          <p:nvPr/>
        </p:nvSpPr>
        <p:spPr>
          <a:xfrm>
            <a:off x="28185969" y="11389707"/>
            <a:ext cx="15950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üvegtartály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BBE58-BBA6-CE9A-7C3D-59ADB50102F1}"/>
              </a:ext>
            </a:extLst>
          </p:cNvPr>
          <p:cNvSpPr txBox="1"/>
          <p:nvPr/>
        </p:nvSpPr>
        <p:spPr>
          <a:xfrm>
            <a:off x="28191438" y="13642438"/>
            <a:ext cx="22810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tartószerkezet</a:t>
            </a:r>
          </a:p>
        </p:txBody>
      </p:sp>
    </p:spTree>
    <p:extLst>
      <p:ext uri="{BB962C8B-B14F-4D97-AF65-F5344CB8AC3E}">
        <p14:creationId xmlns:p14="http://schemas.microsoft.com/office/powerpoint/2010/main" val="3879268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Régi időmérő eszközök</vt:lpstr>
      <vt:lpstr>Napóra (árnyékóra)</vt:lpstr>
      <vt:lpstr>Vízóra (klepszüdra)</vt:lpstr>
      <vt:lpstr>Gyertyaóra</vt:lpstr>
      <vt:lpstr>Homokóra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142</cp:revision>
  <dcterms:created xsi:type="dcterms:W3CDTF">2026-09-06T19:07:24Z</dcterms:created>
  <dcterms:modified xsi:type="dcterms:W3CDTF">2026-09-06T21:32:47Z</dcterms:modified>
</cp:coreProperties>
</file>