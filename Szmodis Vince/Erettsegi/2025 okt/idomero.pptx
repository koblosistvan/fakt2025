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239625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zmodis István " initials="Sz I" lastIdx="2" clrIdx="0">
    <p:extLst>
      <p:ext uri="{19B8F6BF-5375-455C-9EA6-DF929625EA0E}">
        <p15:presenceInfo xmlns:p15="http://schemas.microsoft.com/office/powerpoint/2012/main" userId="Szmodis István 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D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26" autoAdjust="0"/>
    <p:restoredTop sz="94660"/>
  </p:normalViewPr>
  <p:slideViewPr>
    <p:cSldViewPr snapToGrid="0">
      <p:cViewPr>
        <p:scale>
          <a:sx n="100" d="100"/>
          <a:sy n="100" d="100"/>
        </p:scale>
        <p:origin x="30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6T18:41:57.579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  <p:cm authorId="1" dt="2026-09-06T18:42:34.001" idx="2">
    <p:pos x="7180" y="564"/>
    <p:text>A víz a tölcsérbe (1) jut, és átmegy a hengerbe, amelyben az úszó (2) felemelkedik. Ez egy fogasléchez van csatlakoztatva, amely az óramutatót működteti. A víz áramlási sebességét a beosztásos dugó (3) szabályozza.</p:text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1119505"/>
            <a:ext cx="9179719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3592866"/>
            <a:ext cx="9179719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213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900"/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100"/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9370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705385"/>
            <a:ext cx="10556677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4577778"/>
            <a:ext cx="10556677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9606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332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364196"/>
            <a:ext cx="10556677" cy="132218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676882"/>
            <a:ext cx="51779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2498697"/>
            <a:ext cx="51779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676882"/>
            <a:ext cx="52034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2498697"/>
            <a:ext cx="52034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1943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56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9369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984911"/>
            <a:ext cx="6196310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2519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984911"/>
            <a:ext cx="6196310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437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0890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364195"/>
            <a:ext cx="2639169" cy="579704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364195"/>
            <a:ext cx="7764512" cy="579704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310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A0DCE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5" y="895350"/>
            <a:ext cx="6759474" cy="791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820976"/>
            <a:ext cx="6759475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F9131-4F6B-47C3-895B-426419E6EEAB}" type="datetimeFigureOut">
              <a:rPr lang="hu-HU" smtClean="0"/>
              <a:t>2026. 09. 06.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6340166"/>
            <a:ext cx="4130873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074B8-78E9-4A81-B572-15F2EC54B51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287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3100" kern="1200">
          <a:solidFill>
            <a:schemeClr val="tx1"/>
          </a:solidFill>
          <a:latin typeface="Podkova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Podkova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Podkova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Podkova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Podkova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Podkova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F861D7-832A-427B-AC6F-586F19C2C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001" y="4459017"/>
            <a:ext cx="10309622" cy="2381521"/>
          </a:xfrm>
        </p:spPr>
        <p:txBody>
          <a:bodyPr>
            <a:normAutofit/>
          </a:bodyPr>
          <a:lstStyle/>
          <a:p>
            <a:r>
              <a:rPr lang="hu-HU" sz="8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Régi időmérő eszközök</a:t>
            </a:r>
          </a:p>
        </p:txBody>
      </p:sp>
    </p:spTree>
    <p:extLst>
      <p:ext uri="{BB962C8B-B14F-4D97-AF65-F5344CB8AC3E}">
        <p14:creationId xmlns:p14="http://schemas.microsoft.com/office/powerpoint/2010/main" val="227294624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FBA0EA-22BA-4F59-A64B-A9D63672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Napóra (árnyékóra)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7B28F5-4E96-4340-9896-7AFD4D7AC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474" y="1820976"/>
            <a:ext cx="6759475" cy="4340259"/>
          </a:xfrm>
        </p:spPr>
        <p:txBody>
          <a:bodyPr>
            <a:normAutofit fontScale="62500" lnSpcReduction="20000"/>
          </a:bodyPr>
          <a:lstStyle/>
          <a:p>
            <a:r>
              <a:rPr lang="hu-HU" sz="4600" dirty="0"/>
              <a:t>Kr. e. 5. évezred</a:t>
            </a:r>
          </a:p>
          <a:p>
            <a:r>
              <a:rPr lang="hu-HU" sz="4600" dirty="0"/>
              <a:t>A legpontosabb eszköz még a középkorban is</a:t>
            </a:r>
          </a:p>
          <a:p>
            <a:r>
              <a:rPr lang="hu-HU" sz="4600" dirty="0"/>
              <a:t>A helyi időt mutatja</a:t>
            </a:r>
          </a:p>
          <a:p>
            <a:r>
              <a:rPr lang="hu-HU" sz="4600" dirty="0"/>
              <a:t>Részei</a:t>
            </a:r>
          </a:p>
          <a:p>
            <a:pPr marL="452438" indent="-182563">
              <a:tabLst>
                <a:tab pos="182563" algn="l"/>
              </a:tabLst>
            </a:pPr>
            <a:r>
              <a:rPr lang="hu-HU" sz="4000" dirty="0"/>
              <a:t>árnyékvető (gnómon)</a:t>
            </a:r>
          </a:p>
          <a:p>
            <a:pPr marL="452438" indent="-182563">
              <a:tabLst>
                <a:tab pos="182563" algn="l"/>
              </a:tabLst>
            </a:pPr>
            <a:r>
              <a:rPr lang="hu-HU" sz="4000" dirty="0"/>
              <a:t>számlap</a:t>
            </a:r>
          </a:p>
          <a:p>
            <a:r>
              <a:rPr lang="hu-HU" sz="4600" dirty="0"/>
              <a:t>Típusai</a:t>
            </a:r>
          </a:p>
          <a:p>
            <a:pPr marL="452438" indent="-182563">
              <a:tabLst>
                <a:tab pos="182563" algn="l"/>
              </a:tabLst>
            </a:pPr>
            <a:r>
              <a:rPr lang="hu-HU" sz="4000" dirty="0"/>
              <a:t>rögzített</a:t>
            </a:r>
          </a:p>
          <a:p>
            <a:pPr marL="452438" indent="-182563">
              <a:tabLst>
                <a:tab pos="182563" algn="l"/>
              </a:tabLst>
            </a:pPr>
            <a:r>
              <a:rPr lang="hu-HU" sz="4000" dirty="0"/>
              <a:t>hordozható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9111D7D-250C-4E01-BC01-CDB778685C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0" r="9767"/>
          <a:stretch/>
        </p:blipFill>
        <p:spPr>
          <a:xfrm>
            <a:off x="7600949" y="1440269"/>
            <a:ext cx="4167739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7853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43FEC0-9F33-49E4-80DE-4BC10878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Vízóra (</a:t>
            </a:r>
            <a:r>
              <a:rPr lang="hu-HU" dirty="0" err="1"/>
              <a:t>klepszüdra</a:t>
            </a:r>
            <a:r>
              <a:rPr lang="hu-HU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B80C1F-0B25-4CE8-B96B-467A83A0D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Mezopotámia, Egyiptom, Távol-Kelet</a:t>
            </a:r>
          </a:p>
          <a:p>
            <a:r>
              <a:rPr lang="hu-HU" dirty="0"/>
              <a:t>A víz átcsöpög a másik edénybe</a:t>
            </a:r>
          </a:p>
          <a:p>
            <a:r>
              <a:rPr lang="hu-HU" dirty="0"/>
              <a:t>Tölcsér alak: egyenletesen</a:t>
            </a:r>
          </a:p>
          <a:p>
            <a:r>
              <a:rPr lang="hu-HU" dirty="0"/>
              <a:t>Ókori Görögország: beszédek hossza</a:t>
            </a:r>
          </a:p>
          <a:p>
            <a:r>
              <a:rPr lang="hu-HU" dirty="0"/>
              <a:t>Galilei: kísérleteihez időméréshez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BDDD8E0-05AE-4682-80CB-9E9692204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150" y="895350"/>
            <a:ext cx="2880000" cy="443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3126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9723CE-7CB9-4C6A-860B-AE849F06C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Gyertyaóra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1043CE0-593F-4A01-98B6-F40065E76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Kb. 900 éve terjedt el</a:t>
            </a:r>
          </a:p>
          <a:p>
            <a:r>
              <a:rPr lang="hu-HU" dirty="0"/>
              <a:t>A gyertya egyenletesen fogy</a:t>
            </a:r>
          </a:p>
          <a:p>
            <a:r>
              <a:rPr lang="hu-HU" dirty="0"/>
              <a:t>Beosztás a gyertyán vagy a gyertya mögött</a:t>
            </a:r>
          </a:p>
          <a:p>
            <a:r>
              <a:rPr lang="hu-HU" dirty="0"/>
              <a:t>Időzítés:</a:t>
            </a:r>
          </a:p>
          <a:p>
            <a:pPr marL="452438" indent="-182563"/>
            <a:r>
              <a:rPr lang="hu-HU" sz="2500" dirty="0"/>
              <a:t>szeg a megfelelő osztásnál</a:t>
            </a:r>
          </a:p>
          <a:p>
            <a:pPr marL="452438" indent="-182563"/>
            <a:r>
              <a:rPr lang="hu-HU" sz="2500" dirty="0"/>
              <a:t>amikor odáig leég, a szeg fémtálkába esik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7163622-4020-44E3-B77A-9A0D5752D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658" y="1290867"/>
            <a:ext cx="3240405" cy="4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3868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44864E-F93E-41A9-8B84-B23EE46FC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Homokóra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B8167B-8838-4050-8E3D-D1DCBC50D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Első feljegyzés: XIV. század</a:t>
            </a:r>
          </a:p>
          <a:p>
            <a:r>
              <a:rPr lang="hu-HU" dirty="0"/>
              <a:t>Két vékony csővel összekötött edény</a:t>
            </a:r>
          </a:p>
          <a:p>
            <a:r>
              <a:rPr lang="hu-HU" dirty="0"/>
              <a:t>A felső tartályból homok pereg</a:t>
            </a:r>
          </a:p>
          <a:p>
            <a:r>
              <a:rPr lang="hu-HU" dirty="0"/>
              <a:t>Időtartamot mér</a:t>
            </a:r>
          </a:p>
          <a:p>
            <a:r>
              <a:rPr lang="hu-HU" dirty="0"/>
              <a:t>Újraindítás: megfordítják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3110ECC-DC1E-4C0B-928C-477C693A0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836" y="1290867"/>
            <a:ext cx="1960880" cy="4318000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FD0CBE77-F6AB-452F-A934-841ADB9C1C3E}"/>
              </a:ext>
            </a:extLst>
          </p:cNvPr>
          <p:cNvSpPr txBox="1"/>
          <p:nvPr/>
        </p:nvSpPr>
        <p:spPr>
          <a:xfrm>
            <a:off x="1197864" y="5608867"/>
            <a:ext cx="518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A világ legnagyobb homokóráját, a Világórát hazánk EU-s csatlakozása alkalmából Budapesten adták át.</a:t>
            </a:r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6DE64A74-CDA7-4D35-9E2D-661876EE4952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8858633" y="2507757"/>
            <a:ext cx="1199392" cy="309558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7387F3E1-8B73-4997-9A38-7BE8BB611FFC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8772005" y="3449867"/>
            <a:ext cx="1295542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65F16B31-743C-41D3-83E8-FF4CB8FD6894}"/>
              </a:ext>
            </a:extLst>
          </p:cNvPr>
          <p:cNvCxnSpPr>
            <a:cxnSpLocks/>
            <a:stCxn id="43" idx="1"/>
          </p:cNvCxnSpPr>
          <p:nvPr/>
        </p:nvCxnSpPr>
        <p:spPr>
          <a:xfrm flipH="1" flipV="1">
            <a:off x="9157017" y="4518275"/>
            <a:ext cx="910530" cy="273374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AB08C25E-2E0A-4B59-8B59-66C5659CA653}"/>
              </a:ext>
            </a:extLst>
          </p:cNvPr>
          <p:cNvCxnSpPr>
            <a:cxnSpLocks/>
            <a:stCxn id="44" idx="1"/>
          </p:cNvCxnSpPr>
          <p:nvPr/>
        </p:nvCxnSpPr>
        <p:spPr>
          <a:xfrm flipH="1" flipV="1">
            <a:off x="9403883" y="5380523"/>
            <a:ext cx="663664" cy="494146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12FE43B5-753A-4489-8A3B-E3BF6F50A4E5}"/>
              </a:ext>
            </a:extLst>
          </p:cNvPr>
          <p:cNvSpPr txBox="1"/>
          <p:nvPr/>
        </p:nvSpPr>
        <p:spPr>
          <a:xfrm>
            <a:off x="10058025" y="2323091"/>
            <a:ext cx="1457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száraz homok</a:t>
            </a:r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57BABEF5-B565-42AE-8CF4-1F77DFEFB5FA}"/>
              </a:ext>
            </a:extLst>
          </p:cNvPr>
          <p:cNvSpPr txBox="1"/>
          <p:nvPr/>
        </p:nvSpPr>
        <p:spPr>
          <a:xfrm>
            <a:off x="10067547" y="3265201"/>
            <a:ext cx="1457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nyílás</a:t>
            </a:r>
          </a:p>
        </p:txBody>
      </p:sp>
      <p:sp>
        <p:nvSpPr>
          <p:cNvPr id="43" name="Szövegdoboz 42">
            <a:extLst>
              <a:ext uri="{FF2B5EF4-FFF2-40B4-BE49-F238E27FC236}">
                <a16:creationId xmlns:a16="http://schemas.microsoft.com/office/drawing/2014/main" id="{76EA27F2-BEA2-4F87-999C-95A84E5CA9D8}"/>
              </a:ext>
            </a:extLst>
          </p:cNvPr>
          <p:cNvSpPr txBox="1"/>
          <p:nvPr/>
        </p:nvSpPr>
        <p:spPr>
          <a:xfrm>
            <a:off x="10067547" y="4606983"/>
            <a:ext cx="1448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üvegtartály</a:t>
            </a:r>
          </a:p>
        </p:txBody>
      </p:sp>
      <p:sp>
        <p:nvSpPr>
          <p:cNvPr id="44" name="Szövegdoboz 43">
            <a:extLst>
              <a:ext uri="{FF2B5EF4-FFF2-40B4-BE49-F238E27FC236}">
                <a16:creationId xmlns:a16="http://schemas.microsoft.com/office/drawing/2014/main" id="{36128A8A-5DFB-43B2-A614-8EB3C9831DC2}"/>
              </a:ext>
            </a:extLst>
          </p:cNvPr>
          <p:cNvSpPr txBox="1"/>
          <p:nvPr/>
        </p:nvSpPr>
        <p:spPr>
          <a:xfrm>
            <a:off x="10067547" y="5690003"/>
            <a:ext cx="1562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tartószerkezet</a:t>
            </a:r>
          </a:p>
        </p:txBody>
      </p:sp>
    </p:spTree>
    <p:extLst>
      <p:ext uri="{BB962C8B-B14F-4D97-AF65-F5344CB8AC3E}">
        <p14:creationId xmlns:p14="http://schemas.microsoft.com/office/powerpoint/2010/main" val="108324394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136</Words>
  <Application>Microsoft Office PowerPoint</Application>
  <PresentationFormat>Egyéni</PresentationFormat>
  <Paragraphs>35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Calibri</vt:lpstr>
      <vt:lpstr>Podkova</vt:lpstr>
      <vt:lpstr>Office-téma</vt:lpstr>
      <vt:lpstr>Régi időmérő eszközök</vt:lpstr>
      <vt:lpstr>Napóra (árnyékóra)</vt:lpstr>
      <vt:lpstr>Vízóra (klepszüdra)</vt:lpstr>
      <vt:lpstr>Gyertyaóra</vt:lpstr>
      <vt:lpstr>Homokóra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Régi időmérő eszközök</dc:title>
  <dc:creator>Szmodis István </dc:creator>
  <cp:lastModifiedBy>Szmodis István </cp:lastModifiedBy>
  <cp:revision>5</cp:revision>
  <dcterms:created xsi:type="dcterms:W3CDTF">2026-09-06T16:13:36Z</dcterms:created>
  <dcterms:modified xsi:type="dcterms:W3CDTF">2026-09-06T16:55:45Z</dcterms:modified>
</cp:coreProperties>
</file>