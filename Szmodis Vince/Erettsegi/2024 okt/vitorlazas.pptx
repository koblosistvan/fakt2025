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816A84-35D8-45E7-8637-7B2DD94DB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B919EDA-95E9-4F87-8A7C-0C714408EC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5D15571-72ED-406F-BB93-34012079C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71EA2-09DE-4DEB-9C9C-DE4CBC8AEFF8}" type="datetimeFigureOut">
              <a:rPr lang="hu-HU" smtClean="0"/>
              <a:t>2026. 10. 11.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5653E5B-143F-4620-A78F-08DFD9A96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A4E5506-7081-463D-91F8-978B62AAB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AA8B9-9596-44AB-9E6E-6D4D4049EB0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40050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61C83C5-6B70-42D5-BB2F-98BAC6866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B6D04F6-9BF9-45EE-B431-F598D3679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A852082-3DBE-4003-80F0-DB0D6D627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71EA2-09DE-4DEB-9C9C-DE4CBC8AEFF8}" type="datetimeFigureOut">
              <a:rPr lang="hu-HU" smtClean="0"/>
              <a:t>2026. 10. 11.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34E9583-09A1-458F-8A6E-076D63AC7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F106432-09EB-494D-87F7-DCAC3417D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AA8B9-9596-44AB-9E6E-6D4D4049EB0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5957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C405F2A-99EE-46E6-8973-29A8930EC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3008739-B974-4F62-A697-40DAF95EA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68956B3-08AC-4378-8A25-499B2C9AE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71EA2-09DE-4DEB-9C9C-DE4CBC8AEFF8}" type="datetimeFigureOut">
              <a:rPr lang="hu-HU" smtClean="0"/>
              <a:t>2026. 10. 11.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6159E03-5664-430E-B1DC-F38019130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B2AA20E-CDAD-48BB-943E-5EA9B12B7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AA8B9-9596-44AB-9E6E-6D4D4049EB0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61793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DB91ED6-D5FC-45FF-A157-B451F6B45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44875E2-0D66-43FE-A1D9-2A3032FB9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8E870835-6D25-464A-A419-9162A8992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00595A2-405E-4EFF-A4D0-8CDC07FA2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71EA2-09DE-4DEB-9C9C-DE4CBC8AEFF8}" type="datetimeFigureOut">
              <a:rPr lang="hu-HU" smtClean="0"/>
              <a:t>2026. 10. 11.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80F96D4-C186-4167-BCB3-AF2CA9C68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89631F0-9739-4B98-8539-C058B3826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AA8B9-9596-44AB-9E6E-6D4D4049EB0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50258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A09D34E-06F0-4FDB-839D-0D0666675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902ED37-73A4-4293-B8A7-4EF8BCC66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3F38D6C-C54F-48CA-A9FA-04E3832D95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0AA7012-298D-4B21-896A-29371D40F1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76B1123A-7400-46B4-807B-084862D75A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F696EA0F-85E9-4C77-9945-299AFE653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71EA2-09DE-4DEB-9C9C-DE4CBC8AEFF8}" type="datetimeFigureOut">
              <a:rPr lang="hu-HU" smtClean="0"/>
              <a:t>2026. 10. 11.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88544CBD-F20F-40A1-90D1-01B27A005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CB29C89D-9EBF-4CE4-8945-1F533666E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AA8B9-9596-44AB-9E6E-6D4D4049EB0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86960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75B6660-4EFF-4283-B6F8-D6F8B5CE8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1DFA9A97-BF43-4288-9709-0DCB31122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71EA2-09DE-4DEB-9C9C-DE4CBC8AEFF8}" type="datetimeFigureOut">
              <a:rPr lang="hu-HU" smtClean="0"/>
              <a:t>2026. 10. 11.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F11C12AC-A536-4D4F-BA06-B126E9901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95BD49EA-4A76-41AE-BDB5-5E3A60FA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AA8B9-9596-44AB-9E6E-6D4D4049EB0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39982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04D71569-CA7D-4EF2-BA9A-2CC0F4067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71EA2-09DE-4DEB-9C9C-DE4CBC8AEFF8}" type="datetimeFigureOut">
              <a:rPr lang="hu-HU" smtClean="0"/>
              <a:t>2026. 10. 11.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CF2BC51A-87DE-441B-8201-BC640605D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ECF4CCF2-C337-4A27-B06C-5053FD882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AA8B9-9596-44AB-9E6E-6D4D4049EB0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76035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C3FBBA3-31F9-4C69-85B0-715EC366B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5FD77E9-158A-45A6-8999-B23C6A69A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CAAD493-E343-4FDC-B76B-6BC61227AC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A2A3B19-FCAC-40D7-B5C5-75AA5DBF4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71EA2-09DE-4DEB-9C9C-DE4CBC8AEFF8}" type="datetimeFigureOut">
              <a:rPr lang="hu-HU" smtClean="0"/>
              <a:t>2026. 10. 11.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EF99268-4D32-4167-80CD-09AF41357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DFB7003-56B1-465B-9923-0CF650F70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AA8B9-9596-44AB-9E6E-6D4D4049EB0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44570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2249F30-DED4-4F34-9849-E367E3806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6BCF8522-FD71-4443-AC0B-63AC6EB5C4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12C607C0-5DD1-471C-A617-330803115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7D1E51D-BFC5-416D-8BD7-51BE97FA1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71EA2-09DE-4DEB-9C9C-DE4CBC8AEFF8}" type="datetimeFigureOut">
              <a:rPr lang="hu-HU" smtClean="0"/>
              <a:t>2026. 10. 11.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91B6857-E3CB-4FAE-ADFB-2D05EAC43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7E9BABC-08DB-441F-8786-E198A7A75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AA8B9-9596-44AB-9E6E-6D4D4049EB0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12519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47F1ABB-4388-47C1-8284-166047123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015BFED5-CD8E-40F8-9670-D9D4A6C476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98C9886-DFE6-4EE0-9B5A-05F944236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71EA2-09DE-4DEB-9C9C-DE4CBC8AEFF8}" type="datetimeFigureOut">
              <a:rPr lang="hu-HU" smtClean="0"/>
              <a:t>2026. 10. 11.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0B1588C-49B9-4D3B-8741-BB3A92E9D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916662D-3807-4FA3-BEA3-1D611E7D0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AA8B9-9596-44AB-9E6E-6D4D4049EB0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25203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7C34C851-F2BD-49C1-835A-C21C7A6092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512DE782-207A-4D51-ADEC-46D02F25B6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BDB8A50-A871-4D19-A304-B07420AAF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71EA2-09DE-4DEB-9C9C-DE4CBC8AEFF8}" type="datetimeFigureOut">
              <a:rPr lang="hu-HU" smtClean="0"/>
              <a:t>2026. 10. 11.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40EADEC-03F5-4EDA-91BF-868DDCF7C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C684DFC-94C3-454B-8A93-CECD5ACE6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AA8B9-9596-44AB-9E6E-6D4D4049EB0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94543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>
            <a:extLst>
              <a:ext uri="{FF2B5EF4-FFF2-40B4-BE49-F238E27FC236}">
                <a16:creationId xmlns:a16="http://schemas.microsoft.com/office/drawing/2014/main" id="{87DFFC50-B0F9-4A60-802F-815AB33A6510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762"/>
            <a:ext cx="12192000" cy="6856475"/>
          </a:xfrm>
          <a:prstGeom prst="rect">
            <a:avLst/>
          </a:prstGeom>
        </p:spPr>
      </p:pic>
      <p:sp>
        <p:nvSpPr>
          <p:cNvPr id="2" name="Cím helye 1">
            <a:extLst>
              <a:ext uri="{FF2B5EF4-FFF2-40B4-BE49-F238E27FC236}">
                <a16:creationId xmlns:a16="http://schemas.microsoft.com/office/drawing/2014/main" id="{52394B8B-F5A7-45BD-A1F6-E832EE917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287ED62-86F8-47F8-9FB3-DAAA82047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6F1F091-3BA5-4F8B-877C-989C1B62D1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71EA2-09DE-4DEB-9C9C-DE4CBC8AEFF8}" type="datetimeFigureOut">
              <a:rPr lang="hu-HU" smtClean="0"/>
              <a:t>2026. 10. 11.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DB4EB75-35F5-495D-920E-40D3EF89A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91D3E5E-77A9-41F1-B487-F1322D715F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9AA8B9-9596-44AB-9E6E-6D4D4049EB0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76104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>
            <a:extLst>
              <a:ext uri="{FF2B5EF4-FFF2-40B4-BE49-F238E27FC236}">
                <a16:creationId xmlns:a16="http://schemas.microsoft.com/office/drawing/2014/main" id="{E60B6530-B20E-4C75-8457-6712C00A77DF}"/>
              </a:ext>
            </a:extLst>
          </p:cNvPr>
          <p:cNvSpPr/>
          <p:nvPr/>
        </p:nvSpPr>
        <p:spPr>
          <a:xfrm>
            <a:off x="490820" y="382262"/>
            <a:ext cx="5434501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u-HU" sz="9600" dirty="0">
                <a:solidFill>
                  <a:schemeClr val="bg1"/>
                </a:solidFill>
                <a:latin typeface="Open sans"/>
              </a:rPr>
              <a:t>Vitorlázás</a:t>
            </a:r>
          </a:p>
        </p:txBody>
      </p:sp>
    </p:spTree>
    <p:extLst>
      <p:ext uri="{BB962C8B-B14F-4D97-AF65-F5344CB8AC3E}">
        <p14:creationId xmlns:p14="http://schemas.microsoft.com/office/powerpoint/2010/main" val="303082888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>
            <a:extLst>
              <a:ext uri="{FF2B5EF4-FFF2-40B4-BE49-F238E27FC236}">
                <a16:creationId xmlns:a16="http://schemas.microsoft.com/office/drawing/2014/main" id="{B320A78B-8EB7-447C-8702-4D002F0F704B}"/>
              </a:ext>
            </a:extLst>
          </p:cNvPr>
          <p:cNvSpPr/>
          <p:nvPr/>
        </p:nvSpPr>
        <p:spPr>
          <a:xfrm>
            <a:off x="754842" y="583430"/>
            <a:ext cx="310129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u-HU" sz="7200" dirty="0">
                <a:solidFill>
                  <a:schemeClr val="bg1"/>
                </a:solidFill>
                <a:latin typeface="Open sans"/>
              </a:rPr>
              <a:t>Szélkör</a:t>
            </a:r>
          </a:p>
        </p:txBody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558CF6C5-1649-428A-BCCB-DCD46729AEDE}"/>
              </a:ext>
            </a:extLst>
          </p:cNvPr>
          <p:cNvSpPr/>
          <p:nvPr/>
        </p:nvSpPr>
        <p:spPr>
          <a:xfrm>
            <a:off x="754842" y="1969300"/>
            <a:ext cx="4987590" cy="2308324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>
            <a:spAutoFit/>
          </a:bodyPr>
          <a:lstStyle/>
          <a:p>
            <a:r>
              <a:rPr lang="hu-HU" sz="2400" dirty="0">
                <a:latin typeface="Open sans"/>
              </a:rPr>
              <a:t>Ha a hajónk a jobb oldala felől kapja a szelet, akkor jobbcsapáson haladunk, ha a bal oldal felől, akkor balcsapáson. Így az ismert menetirányok a teljes 360°-ot lefedik, felrajzolhatjuk a szélkört.</a:t>
            </a:r>
          </a:p>
        </p:txBody>
      </p:sp>
      <p:sp>
        <p:nvSpPr>
          <p:cNvPr id="4" name="Nyíl: lefelé mutató 3">
            <a:extLst>
              <a:ext uri="{FF2B5EF4-FFF2-40B4-BE49-F238E27FC236}">
                <a16:creationId xmlns:a16="http://schemas.microsoft.com/office/drawing/2014/main" id="{99971633-2AE9-46FA-81A4-16FF04EBC060}"/>
              </a:ext>
            </a:extLst>
          </p:cNvPr>
          <p:cNvSpPr/>
          <p:nvPr/>
        </p:nvSpPr>
        <p:spPr>
          <a:xfrm>
            <a:off x="7678422" y="82296"/>
            <a:ext cx="438912" cy="1453896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Nyíl: lefelé mutató 4">
            <a:extLst>
              <a:ext uri="{FF2B5EF4-FFF2-40B4-BE49-F238E27FC236}">
                <a16:creationId xmlns:a16="http://schemas.microsoft.com/office/drawing/2014/main" id="{F1BBBD63-1699-47E8-801F-15D14779598D}"/>
              </a:ext>
            </a:extLst>
          </p:cNvPr>
          <p:cNvSpPr/>
          <p:nvPr/>
        </p:nvSpPr>
        <p:spPr>
          <a:xfrm>
            <a:off x="8932320" y="82296"/>
            <a:ext cx="438912" cy="1453896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Nyíl: lefelé mutató 5">
            <a:extLst>
              <a:ext uri="{FF2B5EF4-FFF2-40B4-BE49-F238E27FC236}">
                <a16:creationId xmlns:a16="http://schemas.microsoft.com/office/drawing/2014/main" id="{D7A3D0AC-D7D3-464D-80F9-DF1504785832}"/>
              </a:ext>
            </a:extLst>
          </p:cNvPr>
          <p:cNvSpPr/>
          <p:nvPr/>
        </p:nvSpPr>
        <p:spPr>
          <a:xfrm>
            <a:off x="10290558" y="82296"/>
            <a:ext cx="438912" cy="1453896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4C2999AD-1F33-4F6D-AD91-50A7F0AD87F2}"/>
              </a:ext>
            </a:extLst>
          </p:cNvPr>
          <p:cNvSpPr/>
          <p:nvPr/>
        </p:nvSpPr>
        <p:spPr>
          <a:xfrm>
            <a:off x="6594810" y="1770829"/>
            <a:ext cx="3600000" cy="360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Körszelet 7">
            <a:extLst>
              <a:ext uri="{FF2B5EF4-FFF2-40B4-BE49-F238E27FC236}">
                <a16:creationId xmlns:a16="http://schemas.microsoft.com/office/drawing/2014/main" id="{0CFCAAA8-3D26-4C54-948C-0F6D0B6EAA78}"/>
              </a:ext>
            </a:extLst>
          </p:cNvPr>
          <p:cNvSpPr/>
          <p:nvPr/>
        </p:nvSpPr>
        <p:spPr>
          <a:xfrm>
            <a:off x="6702000" y="3416274"/>
            <a:ext cx="2050443" cy="309110"/>
          </a:xfrm>
          <a:prstGeom prst="chord">
            <a:avLst>
              <a:gd name="adj1" fmla="val 5377221"/>
              <a:gd name="adj2" fmla="val 16200000"/>
            </a:avLst>
          </a:prstGeom>
          <a:solidFill>
            <a:schemeClr val="accent3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Körszelet 8">
            <a:extLst>
              <a:ext uri="{FF2B5EF4-FFF2-40B4-BE49-F238E27FC236}">
                <a16:creationId xmlns:a16="http://schemas.microsoft.com/office/drawing/2014/main" id="{D4D226FF-F666-49CE-942B-762198895E62}"/>
              </a:ext>
            </a:extLst>
          </p:cNvPr>
          <p:cNvSpPr/>
          <p:nvPr/>
        </p:nvSpPr>
        <p:spPr>
          <a:xfrm rot="2700000">
            <a:off x="6911835" y="2882242"/>
            <a:ext cx="2050443" cy="309110"/>
          </a:xfrm>
          <a:prstGeom prst="chord">
            <a:avLst>
              <a:gd name="adj1" fmla="val 5377221"/>
              <a:gd name="adj2" fmla="val 16200000"/>
            </a:avLst>
          </a:prstGeom>
          <a:solidFill>
            <a:schemeClr val="accent3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Körszelet 9">
            <a:extLst>
              <a:ext uri="{FF2B5EF4-FFF2-40B4-BE49-F238E27FC236}">
                <a16:creationId xmlns:a16="http://schemas.microsoft.com/office/drawing/2014/main" id="{4D063964-210C-4C3E-B968-AD4D970BBFD8}"/>
              </a:ext>
            </a:extLst>
          </p:cNvPr>
          <p:cNvSpPr/>
          <p:nvPr/>
        </p:nvSpPr>
        <p:spPr>
          <a:xfrm rot="18900000">
            <a:off x="6930676" y="3965330"/>
            <a:ext cx="2050443" cy="309110"/>
          </a:xfrm>
          <a:prstGeom prst="chord">
            <a:avLst>
              <a:gd name="adj1" fmla="val 5377221"/>
              <a:gd name="adj2" fmla="val 16200000"/>
            </a:avLst>
          </a:prstGeom>
          <a:solidFill>
            <a:schemeClr val="accent3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Körszelet 10">
            <a:extLst>
              <a:ext uri="{FF2B5EF4-FFF2-40B4-BE49-F238E27FC236}">
                <a16:creationId xmlns:a16="http://schemas.microsoft.com/office/drawing/2014/main" id="{4124FBDA-1185-44D9-975F-8B7B923EAC6E}"/>
              </a:ext>
            </a:extLst>
          </p:cNvPr>
          <p:cNvSpPr/>
          <p:nvPr/>
        </p:nvSpPr>
        <p:spPr>
          <a:xfrm rot="16200000">
            <a:off x="7369589" y="4135957"/>
            <a:ext cx="2050443" cy="309110"/>
          </a:xfrm>
          <a:prstGeom prst="chord">
            <a:avLst>
              <a:gd name="adj1" fmla="val 5377221"/>
              <a:gd name="adj2" fmla="val 16200000"/>
            </a:avLst>
          </a:prstGeom>
          <a:solidFill>
            <a:schemeClr val="accent3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Körszelet 11">
            <a:extLst>
              <a:ext uri="{FF2B5EF4-FFF2-40B4-BE49-F238E27FC236}">
                <a16:creationId xmlns:a16="http://schemas.microsoft.com/office/drawing/2014/main" id="{A2B416B5-C5CA-4FF6-BDB4-D213B99C2888}"/>
              </a:ext>
            </a:extLst>
          </p:cNvPr>
          <p:cNvSpPr/>
          <p:nvPr/>
        </p:nvSpPr>
        <p:spPr>
          <a:xfrm rot="5400000">
            <a:off x="7301325" y="2683606"/>
            <a:ext cx="2050443" cy="309110"/>
          </a:xfrm>
          <a:prstGeom prst="chord">
            <a:avLst>
              <a:gd name="adj1" fmla="val 5377221"/>
              <a:gd name="adj2" fmla="val 16200000"/>
            </a:avLst>
          </a:prstGeom>
          <a:solidFill>
            <a:schemeClr val="accent3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6" name="Csoportba foglalás 15">
            <a:extLst>
              <a:ext uri="{FF2B5EF4-FFF2-40B4-BE49-F238E27FC236}">
                <a16:creationId xmlns:a16="http://schemas.microsoft.com/office/drawing/2014/main" id="{E8C1098C-161B-456A-8599-D1CA057873FA}"/>
              </a:ext>
            </a:extLst>
          </p:cNvPr>
          <p:cNvGrpSpPr/>
          <p:nvPr/>
        </p:nvGrpSpPr>
        <p:grpSpPr>
          <a:xfrm rot="10800000">
            <a:off x="7846327" y="2838161"/>
            <a:ext cx="2279119" cy="2262865"/>
            <a:chOff x="5750365" y="3306231"/>
            <a:chExt cx="2279119" cy="2262865"/>
          </a:xfrm>
        </p:grpSpPr>
        <p:sp>
          <p:nvSpPr>
            <p:cNvPr id="13" name="Körszelet 12">
              <a:extLst>
                <a:ext uri="{FF2B5EF4-FFF2-40B4-BE49-F238E27FC236}">
                  <a16:creationId xmlns:a16="http://schemas.microsoft.com/office/drawing/2014/main" id="{D15563D3-7E35-4F43-9A0A-BD099B41450C}"/>
                </a:ext>
              </a:extLst>
            </p:cNvPr>
            <p:cNvSpPr/>
            <p:nvPr/>
          </p:nvSpPr>
          <p:spPr>
            <a:xfrm>
              <a:off x="5750365" y="4710930"/>
              <a:ext cx="2050443" cy="309110"/>
            </a:xfrm>
            <a:prstGeom prst="chord">
              <a:avLst>
                <a:gd name="adj1" fmla="val 5377221"/>
                <a:gd name="adj2" fmla="val 16200000"/>
              </a:avLst>
            </a:prstGeom>
            <a:solidFill>
              <a:schemeClr val="accent3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4" name="Körszelet 13">
              <a:extLst>
                <a:ext uri="{FF2B5EF4-FFF2-40B4-BE49-F238E27FC236}">
                  <a16:creationId xmlns:a16="http://schemas.microsoft.com/office/drawing/2014/main" id="{5CE21DE6-DB1F-4298-BE3F-00E7FA16F53C}"/>
                </a:ext>
              </a:extLst>
            </p:cNvPr>
            <p:cNvSpPr/>
            <p:nvPr/>
          </p:nvSpPr>
          <p:spPr>
            <a:xfrm rot="2700000">
              <a:off x="5960200" y="4176898"/>
              <a:ext cx="2050443" cy="309110"/>
            </a:xfrm>
            <a:prstGeom prst="chord">
              <a:avLst>
                <a:gd name="adj1" fmla="val 5377221"/>
                <a:gd name="adj2" fmla="val 16200000"/>
              </a:avLst>
            </a:prstGeom>
            <a:solidFill>
              <a:schemeClr val="accent3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5" name="Körszelet 14">
              <a:extLst>
                <a:ext uri="{FF2B5EF4-FFF2-40B4-BE49-F238E27FC236}">
                  <a16:creationId xmlns:a16="http://schemas.microsoft.com/office/drawing/2014/main" id="{007782AA-F8C3-40CE-8A43-B2B622320921}"/>
                </a:ext>
              </a:extLst>
            </p:cNvPr>
            <p:cNvSpPr/>
            <p:nvPr/>
          </p:nvSpPr>
          <p:spPr>
            <a:xfrm rot="18900000">
              <a:off x="5979041" y="5259986"/>
              <a:ext cx="2050443" cy="309110"/>
            </a:xfrm>
            <a:prstGeom prst="chord">
              <a:avLst>
                <a:gd name="adj1" fmla="val 5377221"/>
                <a:gd name="adj2" fmla="val 16200000"/>
              </a:avLst>
            </a:prstGeom>
            <a:solidFill>
              <a:schemeClr val="accent3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8" name="Téglalap 17">
            <a:extLst>
              <a:ext uri="{FF2B5EF4-FFF2-40B4-BE49-F238E27FC236}">
                <a16:creationId xmlns:a16="http://schemas.microsoft.com/office/drawing/2014/main" id="{A55ABA75-119D-41CA-90D8-37BB24692A57}"/>
              </a:ext>
            </a:extLst>
          </p:cNvPr>
          <p:cNvSpPr/>
          <p:nvPr/>
        </p:nvSpPr>
        <p:spPr>
          <a:xfrm>
            <a:off x="9893787" y="1750086"/>
            <a:ext cx="1671366" cy="461665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>
            <a:spAutoFit/>
          </a:bodyPr>
          <a:lstStyle/>
          <a:p>
            <a:r>
              <a:rPr lang="hu-HU" sz="2400" dirty="0"/>
              <a:t>Negyedszél</a:t>
            </a:r>
          </a:p>
        </p:txBody>
      </p:sp>
      <p:sp>
        <p:nvSpPr>
          <p:cNvPr id="19" name="Téglalap 18">
            <a:extLst>
              <a:ext uri="{FF2B5EF4-FFF2-40B4-BE49-F238E27FC236}">
                <a16:creationId xmlns:a16="http://schemas.microsoft.com/office/drawing/2014/main" id="{8501A9A1-FD22-42DD-9587-99419882F486}"/>
              </a:ext>
            </a:extLst>
          </p:cNvPr>
          <p:cNvSpPr/>
          <p:nvPr/>
        </p:nvSpPr>
        <p:spPr>
          <a:xfrm rot="60000">
            <a:off x="10497668" y="3289661"/>
            <a:ext cx="1099040" cy="461665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>
            <a:spAutoFit/>
          </a:bodyPr>
          <a:lstStyle/>
          <a:p>
            <a:r>
              <a:rPr lang="hu-HU" sz="2400" dirty="0"/>
              <a:t>Félszél</a:t>
            </a:r>
          </a:p>
        </p:txBody>
      </p:sp>
      <p:sp>
        <p:nvSpPr>
          <p:cNvPr id="20" name="Téglalap 19">
            <a:extLst>
              <a:ext uri="{FF2B5EF4-FFF2-40B4-BE49-F238E27FC236}">
                <a16:creationId xmlns:a16="http://schemas.microsoft.com/office/drawing/2014/main" id="{15A32115-C7B0-4497-96DB-C21BB6FBE393}"/>
              </a:ext>
            </a:extLst>
          </p:cNvPr>
          <p:cNvSpPr/>
          <p:nvPr/>
        </p:nvSpPr>
        <p:spPr>
          <a:xfrm>
            <a:off x="9631826" y="5011592"/>
            <a:ext cx="2496312" cy="461665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>
            <a:spAutoFit/>
          </a:bodyPr>
          <a:lstStyle/>
          <a:p>
            <a:r>
              <a:rPr lang="hu-HU" sz="2400" dirty="0"/>
              <a:t>Háromnegyed-szél</a:t>
            </a:r>
          </a:p>
        </p:txBody>
      </p:sp>
      <p:sp>
        <p:nvSpPr>
          <p:cNvPr id="21" name="Téglalap 20">
            <a:extLst>
              <a:ext uri="{FF2B5EF4-FFF2-40B4-BE49-F238E27FC236}">
                <a16:creationId xmlns:a16="http://schemas.microsoft.com/office/drawing/2014/main" id="{D24DD1BC-ADEE-4629-A4BC-4E3554398C4F}"/>
              </a:ext>
            </a:extLst>
          </p:cNvPr>
          <p:cNvSpPr/>
          <p:nvPr/>
        </p:nvSpPr>
        <p:spPr>
          <a:xfrm>
            <a:off x="7809481" y="5521966"/>
            <a:ext cx="1170658" cy="461665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>
            <a:spAutoFit/>
          </a:bodyPr>
          <a:lstStyle/>
          <a:p>
            <a:r>
              <a:rPr lang="hu-HU" sz="2400" dirty="0">
                <a:latin typeface="Open sans"/>
              </a:rPr>
              <a:t>Hátszél</a:t>
            </a:r>
          </a:p>
        </p:txBody>
      </p:sp>
    </p:spTree>
    <p:extLst>
      <p:ext uri="{BB962C8B-B14F-4D97-AF65-F5344CB8AC3E}">
        <p14:creationId xmlns:p14="http://schemas.microsoft.com/office/powerpoint/2010/main" val="322653377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>
            <a:extLst>
              <a:ext uri="{FF2B5EF4-FFF2-40B4-BE49-F238E27FC236}">
                <a16:creationId xmlns:a16="http://schemas.microsoft.com/office/drawing/2014/main" id="{95C903EE-E467-43B1-BB6E-6084122BB25F}"/>
              </a:ext>
            </a:extLst>
          </p:cNvPr>
          <p:cNvSpPr/>
          <p:nvPr/>
        </p:nvSpPr>
        <p:spPr>
          <a:xfrm>
            <a:off x="657551" y="711446"/>
            <a:ext cx="363657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u-HU" sz="7200" dirty="0">
                <a:solidFill>
                  <a:schemeClr val="bg1"/>
                </a:solidFill>
                <a:latin typeface="Open sans"/>
              </a:rPr>
              <a:t>Fordulás</a:t>
            </a:r>
          </a:p>
        </p:txBody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761BBD8C-B012-4820-9AEF-22D3A396BCA6}"/>
              </a:ext>
            </a:extLst>
          </p:cNvPr>
          <p:cNvSpPr/>
          <p:nvPr/>
        </p:nvSpPr>
        <p:spPr>
          <a:xfrm>
            <a:off x="657550" y="1911775"/>
            <a:ext cx="5084882" cy="2677656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>
            <a:spAutoFit/>
          </a:bodyPr>
          <a:lstStyle/>
          <a:p>
            <a:r>
              <a:rPr lang="hu-HU" sz="2400" dirty="0">
                <a:latin typeface="Open sans"/>
              </a:rPr>
              <a:t>A forduló egy szél felé történő csapásváltó manőver. A vitorla átkerül az egyik oldalról a másikra, megtörténik a csapásváltás. A forduló mindig élesedéssel kezdődik szélbeállásig, majd ejtéssel, az új menetirány felvételével fejeződik be.</a:t>
            </a:r>
          </a:p>
        </p:txBody>
      </p:sp>
      <p:sp>
        <p:nvSpPr>
          <p:cNvPr id="6" name="Nyíl: lefelé mutató 5">
            <a:extLst>
              <a:ext uri="{FF2B5EF4-FFF2-40B4-BE49-F238E27FC236}">
                <a16:creationId xmlns:a16="http://schemas.microsoft.com/office/drawing/2014/main" id="{8A5FC5EA-D7D1-4F5D-AEDD-1FD5283815B9}"/>
              </a:ext>
            </a:extLst>
          </p:cNvPr>
          <p:cNvSpPr/>
          <p:nvPr/>
        </p:nvSpPr>
        <p:spPr>
          <a:xfrm>
            <a:off x="7678422" y="82296"/>
            <a:ext cx="438912" cy="1453896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8" name="Nyíl: lefelé mutató 7">
            <a:extLst>
              <a:ext uri="{FF2B5EF4-FFF2-40B4-BE49-F238E27FC236}">
                <a16:creationId xmlns:a16="http://schemas.microsoft.com/office/drawing/2014/main" id="{E3BBE24D-84DF-4A64-AD97-125AC2E97313}"/>
              </a:ext>
            </a:extLst>
          </p:cNvPr>
          <p:cNvSpPr/>
          <p:nvPr/>
        </p:nvSpPr>
        <p:spPr>
          <a:xfrm>
            <a:off x="8932320" y="82296"/>
            <a:ext cx="438912" cy="1453896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Nyíl: lefelé mutató 8">
            <a:extLst>
              <a:ext uri="{FF2B5EF4-FFF2-40B4-BE49-F238E27FC236}">
                <a16:creationId xmlns:a16="http://schemas.microsoft.com/office/drawing/2014/main" id="{745698F3-F29B-45DD-ADD2-F11ECD9197A8}"/>
              </a:ext>
            </a:extLst>
          </p:cNvPr>
          <p:cNvSpPr/>
          <p:nvPr/>
        </p:nvSpPr>
        <p:spPr>
          <a:xfrm>
            <a:off x="10290558" y="82296"/>
            <a:ext cx="438912" cy="1453896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Körszelet 9">
            <a:extLst>
              <a:ext uri="{FF2B5EF4-FFF2-40B4-BE49-F238E27FC236}">
                <a16:creationId xmlns:a16="http://schemas.microsoft.com/office/drawing/2014/main" id="{9994D181-52AC-4F5A-8104-D6B7092F0017}"/>
              </a:ext>
            </a:extLst>
          </p:cNvPr>
          <p:cNvSpPr/>
          <p:nvPr/>
        </p:nvSpPr>
        <p:spPr>
          <a:xfrm>
            <a:off x="9957264" y="5994882"/>
            <a:ext cx="2050443" cy="309110"/>
          </a:xfrm>
          <a:prstGeom prst="chord">
            <a:avLst>
              <a:gd name="adj1" fmla="val 5377221"/>
              <a:gd name="adj2" fmla="val 16200000"/>
            </a:avLst>
          </a:prstGeom>
          <a:solidFill>
            <a:schemeClr val="accent3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Körszelet 10">
            <a:extLst>
              <a:ext uri="{FF2B5EF4-FFF2-40B4-BE49-F238E27FC236}">
                <a16:creationId xmlns:a16="http://schemas.microsoft.com/office/drawing/2014/main" id="{3C71AE31-77B5-43FA-8D4A-3B23E6A450FC}"/>
              </a:ext>
            </a:extLst>
          </p:cNvPr>
          <p:cNvSpPr/>
          <p:nvPr/>
        </p:nvSpPr>
        <p:spPr>
          <a:xfrm rot="1800000">
            <a:off x="8103976" y="5974689"/>
            <a:ext cx="2050443" cy="309110"/>
          </a:xfrm>
          <a:prstGeom prst="chord">
            <a:avLst>
              <a:gd name="adj1" fmla="val 5377221"/>
              <a:gd name="adj2" fmla="val 16200000"/>
            </a:avLst>
          </a:prstGeom>
          <a:solidFill>
            <a:schemeClr val="accent3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Körszelet 11">
            <a:extLst>
              <a:ext uri="{FF2B5EF4-FFF2-40B4-BE49-F238E27FC236}">
                <a16:creationId xmlns:a16="http://schemas.microsoft.com/office/drawing/2014/main" id="{17E3B70E-66AD-4A98-B128-9338F18183F1}"/>
              </a:ext>
            </a:extLst>
          </p:cNvPr>
          <p:cNvSpPr/>
          <p:nvPr/>
        </p:nvSpPr>
        <p:spPr>
          <a:xfrm rot="4500000">
            <a:off x="6724195" y="4964592"/>
            <a:ext cx="2050443" cy="309110"/>
          </a:xfrm>
          <a:prstGeom prst="chord">
            <a:avLst>
              <a:gd name="adj1" fmla="val 5377221"/>
              <a:gd name="adj2" fmla="val 16200000"/>
            </a:avLst>
          </a:prstGeom>
          <a:solidFill>
            <a:schemeClr val="accent3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Körszelet 12">
            <a:extLst>
              <a:ext uri="{FF2B5EF4-FFF2-40B4-BE49-F238E27FC236}">
                <a16:creationId xmlns:a16="http://schemas.microsoft.com/office/drawing/2014/main" id="{525C874A-A20D-4D9C-A512-2132AE3D3B75}"/>
              </a:ext>
            </a:extLst>
          </p:cNvPr>
          <p:cNvSpPr/>
          <p:nvPr/>
        </p:nvSpPr>
        <p:spPr>
          <a:xfrm rot="9000000">
            <a:off x="6941953" y="3274445"/>
            <a:ext cx="2050443" cy="309110"/>
          </a:xfrm>
          <a:prstGeom prst="chord">
            <a:avLst>
              <a:gd name="adj1" fmla="val 5377221"/>
              <a:gd name="adj2" fmla="val 16200000"/>
            </a:avLst>
          </a:prstGeom>
          <a:solidFill>
            <a:schemeClr val="accent3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Körszelet 13">
            <a:extLst>
              <a:ext uri="{FF2B5EF4-FFF2-40B4-BE49-F238E27FC236}">
                <a16:creationId xmlns:a16="http://schemas.microsoft.com/office/drawing/2014/main" id="{C0358167-FB34-4B3E-9A68-5110970EFC9F}"/>
              </a:ext>
            </a:extLst>
          </p:cNvPr>
          <p:cNvSpPr/>
          <p:nvPr/>
        </p:nvSpPr>
        <p:spPr>
          <a:xfrm rot="10800000">
            <a:off x="9151776" y="2809968"/>
            <a:ext cx="2050443" cy="309110"/>
          </a:xfrm>
          <a:prstGeom prst="chord">
            <a:avLst>
              <a:gd name="adj1" fmla="val 5377221"/>
              <a:gd name="adj2" fmla="val 16200000"/>
            </a:avLst>
          </a:prstGeom>
          <a:solidFill>
            <a:schemeClr val="accent3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 14">
            <a:extLst>
              <a:ext uri="{FF2B5EF4-FFF2-40B4-BE49-F238E27FC236}">
                <a16:creationId xmlns:a16="http://schemas.microsoft.com/office/drawing/2014/main" id="{B583A990-8CDD-4B08-928E-FA0452A49A21}"/>
              </a:ext>
            </a:extLst>
          </p:cNvPr>
          <p:cNvSpPr/>
          <p:nvPr/>
        </p:nvSpPr>
        <p:spPr>
          <a:xfrm rot="60000">
            <a:off x="9097130" y="2440255"/>
            <a:ext cx="796334" cy="461665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>
            <a:spAutoFit/>
          </a:bodyPr>
          <a:lstStyle/>
          <a:p>
            <a:r>
              <a:rPr lang="hu-HU" sz="2400" dirty="0"/>
              <a:t>Ejtés</a:t>
            </a:r>
          </a:p>
        </p:txBody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56F18FF6-4C42-44BE-8A49-9CF7C02EB055}"/>
              </a:ext>
            </a:extLst>
          </p:cNvPr>
          <p:cNvSpPr/>
          <p:nvPr/>
        </p:nvSpPr>
        <p:spPr>
          <a:xfrm rot="60000">
            <a:off x="7956355" y="3868994"/>
            <a:ext cx="1547524" cy="461665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>
            <a:spAutoFit/>
          </a:bodyPr>
          <a:lstStyle/>
          <a:p>
            <a:r>
              <a:rPr lang="hu-HU" sz="2400" dirty="0"/>
              <a:t>Szélbeállás</a:t>
            </a:r>
          </a:p>
        </p:txBody>
      </p:sp>
      <p:sp>
        <p:nvSpPr>
          <p:cNvPr id="17" name="Téglalap 16">
            <a:extLst>
              <a:ext uri="{FF2B5EF4-FFF2-40B4-BE49-F238E27FC236}">
                <a16:creationId xmlns:a16="http://schemas.microsoft.com/office/drawing/2014/main" id="{39A04EFB-8C0E-480B-9236-3DAFC03C9584}"/>
              </a:ext>
            </a:extLst>
          </p:cNvPr>
          <p:cNvSpPr/>
          <p:nvPr/>
        </p:nvSpPr>
        <p:spPr>
          <a:xfrm rot="60000">
            <a:off x="6598195" y="5484910"/>
            <a:ext cx="1273428" cy="461665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>
            <a:spAutoFit/>
          </a:bodyPr>
          <a:lstStyle/>
          <a:p>
            <a:r>
              <a:rPr lang="hu-HU" sz="2400" dirty="0"/>
              <a:t>Élesedés</a:t>
            </a:r>
          </a:p>
        </p:txBody>
      </p:sp>
    </p:spTree>
    <p:extLst>
      <p:ext uri="{BB962C8B-B14F-4D97-AF65-F5344CB8AC3E}">
        <p14:creationId xmlns:p14="http://schemas.microsoft.com/office/powerpoint/2010/main" val="206238074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88</Words>
  <Application>Microsoft Office PowerPoint</Application>
  <PresentationFormat>Szélesvásznú</PresentationFormat>
  <Paragraphs>12</Paragraphs>
  <Slides>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Open sans</vt:lpstr>
      <vt:lpstr>Office-téma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Szmodis István </dc:creator>
  <cp:lastModifiedBy>Szmodis István </cp:lastModifiedBy>
  <cp:revision>7</cp:revision>
  <dcterms:created xsi:type="dcterms:W3CDTF">2026-10-11T17:20:06Z</dcterms:created>
  <dcterms:modified xsi:type="dcterms:W3CDTF">2026-10-11T17:50:01Z</dcterms:modified>
</cp:coreProperties>
</file>